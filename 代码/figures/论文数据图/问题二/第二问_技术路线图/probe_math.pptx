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1" Type="http://schemas.openxmlformats.org/officeDocument/2006/relationships/slide" Target="slides/slide1.xml" /><Relationship Id="rId5" Type="http://schemas.openxmlformats.org/officeDocument/2006/relationships/viewProps" Target="viewProps.xml" /><Relationship Id="rId2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4.svg" /><Relationship Id="rId1" Type="http://schemas.openxmlformats.org/officeDocument/2006/relationships/image" Target="media/image1.svg" /><Relationship Id="rId12" Type="http://schemas.openxmlformats.org/officeDocument/2006/relationships/image" Target="media/image12.svg" /><Relationship Id="rId10" Type="http://schemas.openxmlformats.org/officeDocument/2006/relationships/image" Target="media/image10.svg" /><Relationship Id="rId11" Type="http://schemas.openxmlformats.org/officeDocument/2006/relationships/image" Target="media/image11.svg" /><Relationship Id="rId2" Type="http://schemas.openxmlformats.org/officeDocument/2006/relationships/image" Target="media/image2.svg" /><Relationship Id="rId3" Type="http://schemas.openxmlformats.org/officeDocument/2006/relationships/image" Target="media/image3.svg" /><Relationship Id="rId5" Type="http://schemas.openxmlformats.org/officeDocument/2006/relationships/image" Target="media/image5.svg" /><Relationship Id="rId6" Type="http://schemas.openxmlformats.org/officeDocument/2006/relationships/image" Target="media/image6.svg" /><Relationship Id="rId7" Type="http://schemas.openxmlformats.org/officeDocument/2006/relationships/image" Target="media/image7.svg" /><Relationship Id="rId8" Type="http://schemas.openxmlformats.org/officeDocument/2006/relationships/image" Target="media/image8.svg" /><Relationship Id="rId9" Type="http://schemas.openxmlformats.org/officeDocument/2006/relationships/image" Target="media/image9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position: 'relative', padding: 0 }}&gt;&#10;    {/* 4 x 3 网格，每格 300x210，用于测量公式实际渲染尺寸 */}&#10;    &lt;Box style={{ position: 'absolute', left: 20, top: 20, width: 300, height: 210, background: '#EAF1F9', border: '1px solid #8FA8C0' }}&gt;&lt;Math latex='\rho_q(u)=\begin{cases}qu, &amp; u\ge 0\\ (q-1)u, &amp; u&lt;0\end{cases}' width={230} display={true} color='#0E3F8C' /&gt;&lt;/Box&gt;&#10;    &lt;Box style={{ position: 'absolute', left: 330, top: 20, width: 300, height: 210, background: '#EAF1F9', border: '1px solid #8FA8C0' }}&gt;&lt;Math latex='\min_{f}\sum_{j\in\mathcal{T}_d}\omega_j\sum_t\rho_q\bigl(x_{j,t}-f(\mathbf{x}_{j,t})\bigr)' width={280} display={true} color='#0E3F8C' /&gt;&lt;/Box&gt;&#10;    &lt;Box style={{ position: 'absolute', left: 640, top: 20, width: 300, height: 210, background: '#EAF1F9', border: '1px solid #8FA8C0' }}&gt;&lt;Math latex='\widehat{X}_{d,t}^{(q)}=B_{d,t}^{(q)}+a_{d,\ell}^{(q)}' width={240} display={true} color='#0E3F8C' /&gt;&lt;/Box&gt;&#10;    &lt;Box style={{ position: 'absolute', left: 950, top: 20, width: 300, height: 210, background: '#EAF1F9', border: '1px solid #8FA8C0' }}&gt;&lt;Math latex='\min_{g,\bar b,\bar c,\bar w}\ \sum_{t=1}^{144} p_t\,g_{d,t}' width={240} display={true} color='#0E3F8C' /&gt;&lt;/Box&gt;&#10;&#10;    &lt;Box style={{ position: 'absolute', left: 20, top: 250, width: 300, height: 210, background: '#EAF1F9', border: '1px solid #8FA8C0' }}&gt;&lt;Math latex='\bar E_{d,t}=\bar E_{d,t-1}+0.9\bar c_{d,t}-\bar b_{d,t}/0.9' width={260} display={true} color='#0E3F8C' /&gt;&lt;/Box&gt;&#10;    &lt;Box style={{ position: 'absolute', left: 330, top: 250, width: 300, height: 210, background: '#EAF1F9', border: '1px solid #8FA8C0' }}&gt;&lt;Math latex='z_{j,t}=\bigl(X_{j,t}-\widehat X_{j,t}^{(0.5)}\bigr)/\sigma_{j,t}' width={250} display={true} color='#0E3F8C' /&gt;&lt;/Box&gt;&#10;    &lt;Box style={{ position: 'absolute', left: 640, top: 250, width: 300, height: 210, background: '#EAF1F9', border: '1px solid #8FA8C0' }}&gt;&lt;Math latex='P_{t,ij}=\frac{C_{t,ij}+3P^{\mathrm{all}}_{ij}}{\sum_h\bigl(C_{t,ih}+3P^{\mathrm{all}}_{ih}\bigr)}' width={270} display={true} color='#0E3F8C' /&gt;&lt;/Box&gt;&#10;    &lt;Box style={{ position: 'absolute', left: 950, top: 250, width: 300, height: 210, background: '#EAF1F9', border: '1px solid #8FA8C0' }}&gt;&lt;Math latex='W_t(x,i)=\sum_k w_{t,i,k}\,\mathcal{T}_{t,i}(x,n_{t,i,k})' width={250} display={true} color='#0E3F8C' /&gt;&lt;/Box&gt;&#10;&#10;    &lt;Box style={{ position: 'absolute', left: 20, top: 480, width: 300, height: 210, background: '#EAF1F9', border: '1px solid #8FA8C0' }}&gt;&lt;Math latex=&quot;F_{t,i}(x')=\sum_j P_{t,ij}W_{t+1}(x',j)&quot; width={240} display={true} color='#0E3F8C' /&gt;&lt;/Box&gt;&#10;    &lt;Box style={{ position: 'absolute', left: 330, top: 480, width: 300, height: 210, background: '#EAF1F9', border: '1px solid #8FA8C0' }}&gt;&lt;Math latex='E_{d,t}=E_{d,t-1}+0.9c_{d,t}-\frac{b_{d,t}}{0.9}' width={250} display={true} color='#0E3F8C' /&gt;&lt;/Box&gt;&#10;    &lt;Box style={{ position: 'absolute', left: 640, top: 480, width: 300, height: 210, background: '#EAF1F9', border: '1px solid #8FA8C0' }}&gt;&lt;Math latex='1200\le E_{d,t}\le 10800,\quad 0\le c,b\le 5000/6' width={270} display={true} color='#0E3F8C' /&gt;&lt;/Box&gt;&#10;    &lt;Box style={{ position: 'absolute', left: 950, top: 480, width: 300, height: 210, background: '#EAF1F9', border: '1px solid #8FA8C0' }}&gt;&lt;Math latex='C=\sum_d\sum_t\bigl(p_t g_{d,t}+5p_t e_{d,t}\bigr)' width={250} display={true} color='#0E3F8C' /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190500" y="1905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4" name="" descr="\rho_q(u)=\begin{cases}qu, &amp; u\ge 0\\ (q-1)u, &amp; u&lt;0\end{cases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90500" y="190500"/>
            <a:ext cx="2190750" cy="457200"/>
          </a:xfrm>
          <a:prstGeom prst="rect"/>
          <a:ln/>
        </p:spPr>
      </p:pic>
      <p:sp>
        <p:nvSpPr>
          <p:cNvPr id="5" name=""/>
          <p:cNvSpPr/>
          <p:nvPr/>
        </p:nvSpPr>
        <p:spPr>
          <a:xfrm rot="0" flipH="0" flipV="0">
            <a:off x="3143250" y="1905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6" name="" descr="\min_{f}\sum_{j\in\mathcal{T}_d}\omega_j\sum_t\rho_q\bigl(x_{j,t}-f(\mathbf{x}_{j,t})\bigr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143250" y="190500"/>
            <a:ext cx="2667000" cy="466725"/>
          </a:xfrm>
          <a:prstGeom prst="rect"/>
          <a:ln/>
        </p:spPr>
      </p:pic>
      <p:sp>
        <p:nvSpPr>
          <p:cNvPr id="7" name=""/>
          <p:cNvSpPr/>
          <p:nvPr/>
        </p:nvSpPr>
        <p:spPr>
          <a:xfrm rot="0" flipH="0" flipV="0">
            <a:off x="6096000" y="1905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8" name="" descr="\widehat{X}_{d,t}^{(q)}=B_{d,t}^{(q)}+a_{d,\ell}^{(q)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096000" y="190500"/>
            <a:ext cx="2286000" cy="466725"/>
          </a:xfrm>
          <a:prstGeom prst="rect"/>
          <a:ln/>
        </p:spPr>
      </p:pic>
      <p:sp>
        <p:nvSpPr>
          <p:cNvPr id="9" name=""/>
          <p:cNvSpPr/>
          <p:nvPr/>
        </p:nvSpPr>
        <p:spPr>
          <a:xfrm rot="0" flipH="0" flipV="0">
            <a:off x="9048750" y="1905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10" name="" descr="\min_{g,\bar b,\bar c,\bar w}\ \sum_{t=1}^{144} p_t\,g_{d,t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48750" y="190500"/>
            <a:ext cx="2286000" cy="1028700"/>
          </a:xfrm>
          <a:prstGeom prst="rect"/>
          <a:ln/>
        </p:spPr>
      </p:pic>
      <p:sp>
        <p:nvSpPr>
          <p:cNvPr id="11" name=""/>
          <p:cNvSpPr/>
          <p:nvPr/>
        </p:nvSpPr>
        <p:spPr>
          <a:xfrm rot="0" flipH="0" flipV="0">
            <a:off x="190500" y="238125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12" name="" descr="\bar E_{d,t}=\bar E_{d,t-1}+0.9\bar c_{d,t}-\bar b_{d,t}/0.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90500" y="2381250"/>
            <a:ext cx="2476500" cy="228600"/>
          </a:xfrm>
          <a:prstGeom prst="rect"/>
          <a:ln/>
        </p:spPr>
      </p:pic>
      <p:sp>
        <p:nvSpPr>
          <p:cNvPr id="13" name=""/>
          <p:cNvSpPr/>
          <p:nvPr/>
        </p:nvSpPr>
        <p:spPr>
          <a:xfrm rot="0" flipH="0" flipV="0">
            <a:off x="3143250" y="238125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14" name="" descr="z_{j,t}=\bigl(X_{j,t}-\widehat X_{j,t}^{(0.5)}\bigr)/\sigma_{j,t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3143250" y="2381250"/>
            <a:ext cx="2381250" cy="342900"/>
          </a:xfrm>
          <a:prstGeom prst="rect"/>
          <a:ln/>
        </p:spPr>
      </p:pic>
      <p:sp>
        <p:nvSpPr>
          <p:cNvPr id="15" name=""/>
          <p:cNvSpPr/>
          <p:nvPr/>
        </p:nvSpPr>
        <p:spPr>
          <a:xfrm rot="0" flipH="0" flipV="0">
            <a:off x="6096000" y="238125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16" name="" descr="P_{t,ij}=\frac{C_{t,ij}+3P^{\mathrm{all}}_{ij}}{\sum_h\bigl(C_{t,ih}+3P^{\mathrm{all}}_{ih}\bigr)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6096000" y="2381250"/>
            <a:ext cx="2571750" cy="676275"/>
          </a:xfrm>
          <a:prstGeom prst="rect"/>
          <a:ln/>
        </p:spPr>
      </p:pic>
      <p:sp>
        <p:nvSpPr>
          <p:cNvPr id="17" name=""/>
          <p:cNvSpPr/>
          <p:nvPr/>
        </p:nvSpPr>
        <p:spPr>
          <a:xfrm rot="0" flipH="0" flipV="0">
            <a:off x="9048750" y="238125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18" name="" descr="W_t(x,i)=\sum_k w_{t,i,k}\,\mathcal{T}_{t,i}(x,n_{t,i,k}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9048750" y="2381250"/>
            <a:ext cx="2381250" cy="381000"/>
          </a:xfrm>
          <a:prstGeom prst="rect"/>
          <a:ln/>
        </p:spPr>
      </p:pic>
      <p:sp>
        <p:nvSpPr>
          <p:cNvPr id="19" name=""/>
          <p:cNvSpPr/>
          <p:nvPr/>
        </p:nvSpPr>
        <p:spPr>
          <a:xfrm rot="0" flipH="0" flipV="0">
            <a:off x="190500" y="45720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20" name="" descr="F_{t,i}(x')=\sum_j P_{t,ij}W_{t+1}(x',j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190500" y="4572000"/>
            <a:ext cx="2286000" cy="428625"/>
          </a:xfrm>
          <a:prstGeom prst="rect"/>
          <a:ln/>
        </p:spPr>
      </p:pic>
      <p:sp>
        <p:nvSpPr>
          <p:cNvPr id="21" name=""/>
          <p:cNvSpPr/>
          <p:nvPr/>
        </p:nvSpPr>
        <p:spPr>
          <a:xfrm rot="0" flipH="0" flipV="0">
            <a:off x="3143250" y="45720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22" name="" descr="E_{d,t}=E_{d,t-1}+0.9c_{d,t}-\frac{b_{d,t}}{0.9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3143250" y="4572000"/>
            <a:ext cx="2381250" cy="419100"/>
          </a:xfrm>
          <a:prstGeom prst="rect"/>
          <a:ln/>
        </p:spPr>
      </p:pic>
      <p:sp>
        <p:nvSpPr>
          <p:cNvPr id="23" name=""/>
          <p:cNvSpPr/>
          <p:nvPr/>
        </p:nvSpPr>
        <p:spPr>
          <a:xfrm rot="0" flipH="0" flipV="0">
            <a:off x="6096000" y="45720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24" name="" descr="1200\le E_{d,t}\le 10800,\quad 0\le c,b\le 5000/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6096000" y="4572000"/>
            <a:ext cx="2571750" cy="152400"/>
          </a:xfrm>
          <a:prstGeom prst="rect"/>
          <a:ln/>
        </p:spPr>
      </p:pic>
      <p:sp>
        <p:nvSpPr>
          <p:cNvPr id="25" name=""/>
          <p:cNvSpPr/>
          <p:nvPr/>
        </p:nvSpPr>
        <p:spPr>
          <a:xfrm rot="0" flipH="0" flipV="0">
            <a:off x="9048750" y="4572000"/>
            <a:ext cx="2857500" cy="2000250"/>
          </a:xfrm>
          <a:prstGeom prst="rect">
            <a:avLst/>
          </a:prstGeom>
          <a:solidFill>
            <a:srgbClr val="EAF1F9"/>
          </a:solidFill>
          <a:ln w="12700">
            <a:solidFill>
              <a:srgbClr val="8FA8C0"/>
            </a:solidFill>
            <a:prstDash val="solid"/>
          </a:ln>
        </p:spPr>
        <p:txBody>
          <a:bodyPr/>
          <a:p/>
        </p:txBody>
      </p:sp>
      <p:pic>
        <p:nvPicPr>
          <p:cNvPr id="26" name="" descr="C=\sum_d\sum_t\bigl(p_t g_{d,t}+5p_t e_{d,t}\bigr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 rot="0" flipH="0" flipV="0">
            <a:off x="9048750" y="4572000"/>
            <a:ext cx="2381250" cy="428625"/>
          </a:xfrm>
          <a:prstGeom prst="rect"/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2026-09-12T20:25:00Z</dcterms:created>
  <dcterms:modified xsi:type="dcterms:W3CDTF">2026-09-12T20:25:00Z</dcterms:modified>
</cp:coreProperties>
</file>