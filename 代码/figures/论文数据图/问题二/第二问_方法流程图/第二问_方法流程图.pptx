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4" Type="http://schemas.openxmlformats.org/officeDocument/2006/relationships/tableStyles" Target="tableStyles.xml" /><Relationship Id="rId1" Type="http://schemas.openxmlformats.org/officeDocument/2006/relationships/slide" Target="slides/slide1.xml" /><Relationship Id="rId2" Type="http://schemas.openxmlformats.org/officeDocument/2006/relationships/notesMaster" Target="notesMasters/notesMaster1.xml" /><Relationship Id="rId3" Type="http://schemas.openxmlformats.org/officeDocument/2006/relationships/presProps" Target="presProps.xml" /><Relationship Id="rId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FFFFFF', position: 'relative', padding: 0 }}&gt;&#10;    {/* 连线层：置于最底，节点覆盖其上 */}&#10;    &lt;svg width={1280} height={720} viewBox='0 0 1280 720' style={{ position: 'absolute', top: 0, left: 0 }}&gt;&#10;        {/* 第一阶段内部箭头 */}&#10;        &lt;path d='M410 215 H 441' stroke='#1E4FA8' strokeWidth='2.5' fill='none' /&gt;&#10;        &lt;polygon points='439,206 455,215 439,224' fill='#1E4FA8' /&gt;&#10;        &lt;path d='M825 215 H 856' stroke='#1E4FA8' strokeWidth='2.5' fill='none' /&gt;&#10;        &lt;polygon points='854,206 870,215 854,224' fill='#1E4FA8' /&gt;&#10;        {/* 阶段衔接：全天计划固定 */}&#10;        &lt;path d='M1055 290 V 314 H 225 V 356' stroke='#1E4FA8' strokeWidth='2.5' fill='none' /&gt;&#10;        &lt;polygon points='216,352 234,352 225,366' fill='#1E4FA8' /&gt;&#10;        {/* 第二阶段内部箭头 */}&#10;        &lt;path d='M410 439 H 441' stroke='#1E4FA8' strokeWidth='2.5' fill='none' /&gt;&#10;        &lt;polygon points='439,430 455,439 439,448' fill='#1E4FA8' /&gt;&#10;        &lt;path d='M825 439 H 856' stroke='#1E4FA8' strokeWidth='2.5' fill='none' /&gt;&#10;        &lt;polygon points='854,430 870,439 854,448' fill='#1E4FA8' /&gt;&#10;        {/* 汇入输出 */}&#10;        &lt;path d='M1055 514 V 526' stroke='#1E4FA8' strokeWidth='2.5' fill='none' /&gt;&#10;        &lt;polygon points='1046,524 1064,524 1055,538' fill='#1E4FA8' /&gt;&#10;    &lt;/svg&gt;&#10;&#10;    {/* A 页眉 */}&#10;    &lt;Box style={{ position: 'absolute', top: 0, left: 0, width: 1280, height: 72, background: '#1E4FA8' }} /&gt;&#10;    &lt;Text style={{ position: 'absolute', top: 18, left: 40, fontSize: 30, fontWeight: 'bold', color: '#FFFFFF' }}&gt;第二问：概率净负荷预测与随机动态规划调度方法&lt;/Text&gt;&#10;&#10;    {/* 阶段一标签 */}&#10;    &lt;Box style={{&#10;        position: 'absolute', top: 96, left: 40, width: 560, height: 36,&#10;        background: '#1E4FA8', borderRadius: 18, justifyContent: 'center', alignItems: 'center',&#10;    }}&gt;&#10;        &lt;Text style={{ fontSize: 17, fontWeight: 'bold', color: '#FFFFFF' }}&gt;第一阶段｜日前 0:00：仅凭历史信息确定全天购电计划&lt;/Text&gt;&#10;    &lt;/Box&gt;&#10;&#10;    {/* 阶段二标签 */}&#10;    &lt;Box style={{&#10;        position: 'absolute', top: 320, left: 740, width: 500, height: 36,&#10;        background: '#1E4FA8', borderRadius: 18, justifyContent: 'center', alignItems: 'center',&#10;    }}&gt;&#10;        &lt;Text style={{ fontSize: 17, fontWeight: 'bold', color: '#FFFFFF' }}&gt;第二阶段｜日内：每 10 分钟闭环的反馈控制&lt;/Text&gt;&#10;    &lt;/Box&gt;&#10;&#10;    {/* 衔接说明 */}&#10;    &lt;Text style={{ position: 'absolute', top: 288, left: 430, width: 300, fontSize: 15, fontWeight: 'bold', color: '#3D7BD9', textAlign: 'center' }}&gt;全天计划 g_d 固定不变&lt;/Text&gt;&#10;&#10;    {/* ---------- 第一阶段节点 ---------- */}&#10;    &lt;Box style={{&#10;        position: 'absolute', top: 140, left: 40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1&lt;/Text&gt;&#10;            &lt;/Box&gt;&#10;            &lt;Text style={{ fontSize: 19, fontWeight: 'bold', color: '#0E3F8C' }}&gt;历史信息与特征构造&lt;/Text&gt;&#10;        &lt;/Box&gt;&#10;        &lt;Text style={{ fontSize: 15, color: '#4A5568', lineHeight: 1.5 }}&gt;只使用当日之前的数据：时段与星期周期、昨日与上周同刻、近 3 日与 7 日滚动统计，共约 25 维特征&lt;/Text&gt;&#10;    &lt;/Box&gt;&#10;&#10;    &lt;Box style={{&#10;        position: 'absolute', top: 140, left: 455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2&lt;/Text&gt;&#10;            &lt;/Box&gt;&#10;            &lt;Text style={{ fontSize: 19, fontWeight: 'bold', color: '#0E3F8C' }}&gt;LightGBM 分位数回归&lt;/Text&gt;&#10;        &lt;/Box&gt;&#10;        &lt;Text style={{ fontSize: 15, color: '#4A5568', lineHeight: 1.5 }}&gt;每日拟合 7 个模型，输出 0.20 / 0.50 / 0.65 / 0.80 / 0.90 分位及负荷、光伏中位数；样本按时间指数加权&lt;/Text&gt;&#10;    &lt;/Box&gt;&#10;&#10;    &lt;Box style={{&#10;        position: 'absolute', top: 140, left: 870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3&lt;/Text&gt;&#10;            &lt;/Box&gt;&#10;            &lt;Text style={{ fontSize: 19, fontWeight: 'bold', color: '#0E3F8C' }}&gt;预测中心修正与分时段校准&lt;/Text&gt;&#10;        &lt;/Box&gt;&#10;        &lt;Text style={{ fontSize: 15, color: '#4A5568', lineHeight: 1.5 }}&gt;以 1 月 15—21 日 MAE 选择预测中心（本次为分开预测）；按 4 个 6 小时块做残差分位校准，排序消除分位交叉&lt;/Text&gt;&#10;    &lt;/Box&gt;&#10;&#10;    {/* ---------- 第二阶段节点 ---------- */}&#10;    &lt;Box style={{&#10;        position: 'absolute', top: 364, left: 40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4&lt;/Text&gt;&#10;            &lt;/Box&gt;&#10;            &lt;Text style={{ fontSize: 19, fontWeight: 'bold', color: '#0E3F8C' }}&gt;固定 80 分位日前线性规划&lt;/Text&gt;&#10;        &lt;/Box&gt;&#10;        &lt;Text style={{ fontSize: 15, color: '#4A5568', lineHeight: 1.5 }}&gt;以 80 分位净需求为确定性输入，最小化购电费 Σ p_t g_t；含库存与功率约束；输出全天普通购电计划 g_d&lt;/Text&gt;&#10;    &lt;/Box&gt;&#10;&#10;    &lt;Box style={{&#10;        position: 'absolute', top: 364, left: 455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5&lt;/Text&gt;&#10;            &lt;/Box&gt;&#10;            &lt;Text style={{ fontSize: 19, fontWeight: 'bold', color: '#0E3F8C' }}&gt;三状态误差模型与转移矩阵&lt;/Text&gt;&#10;        &lt;/Box&gt;&#10;        &lt;Text style={{ fontSize: 15, color: '#4A5568', lineHeight: 1.5 }}&gt;标准化误差按 ±0.84 分为三态；全局计数加 1 平滑，再用前后各 3 时段局部计数修正；类内最多 7 个加权样本&lt;/Text&gt;&#10;    &lt;/Box&gt;&#10;&#10;    &lt;Box style={{&#10;        position: 'absolute', top: 364, left: 870, width: 370, height: 150,&#10;        background: '#E8EFF8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6&lt;/Text&gt;&#10;            &lt;/Box&gt;&#10;            &lt;Text style={{ fontSize: 19, fontWeight: 'bold', color: '#0E3F8C' }}&gt;联合 Bellman 递推与反馈执行&lt;/Text&gt;&#10;        &lt;/Box&gt;&#10;        &lt;Text style={{ fontSize: 15, color: '#4A5568', lineHeight: 1.5 }}&gt;161 点库存网格求价值函数 W_t(x,i)，终端系数 κ = 0；每 10 分钟读实测，富余则充电或弃用，缺口则放电＋应急购电&lt;/Text&gt;&#10;    &lt;/Box&gt;&#10;&#10;    {/* ---------- 底部：口径 与 输出 ---------- */}&#10;    &lt;Box style={{&#10;        position: 'absolute', top: 540, left: 40, width: 720, height: 96,&#10;        background: '#F7F9FC', border: '1px solid #D6DCE5', borderRadius: 8,&#10;        padding: 14, flexDirection: 'column', gap: 6,&#10;    }}&gt;&#10;        &lt;Text style={{ fontSize: 16, fontWeight: 'bold', color: '#0E3F8C' }}&gt;执行口径与边界条件&lt;/Text&gt;&#10;        &lt;Text style={{ fontSize: 14, color: '#4A5568', lineHeight: 1.45 }}&gt;储能 1200—10800 kWh；充放电功率 ≤5000 kW，效率均 0.9；应急购电按 5 倍电价结算；决策只用当前与过去观测；不强制日末电量回到日初，日末库存作为次日日初连续接续。&lt;/Text&gt;&#10;    &lt;/Box&gt;&#10;&#10;    &lt;Box style={{&#10;        position: 'absolute', top: 540, left: 780, width: 460, height: 96,&#10;        background: '#E8EFF8', border: '2px solid #1E4FA8', borderRadius: 8,&#10;        padding: 14, flexDirection: 'column', gap: 6,&#10;    }}&gt;&#10;        &lt;Text style={{ fontSize: 16, fontWeight: 'bold', color: '#0E3F8C' }}&gt;输出结果&lt;/Text&gt;&#10;        &lt;Text style={{ fontSize: 14, color: '#4A5568', lineHeight: 1.45 }}&gt;全天普通购电计划 g_d、充放电轨迹、应急购电记录、逐时 SOC 与逐日费用，用于全年账单核算与方案对比。&lt;/Text&gt;&#10;    &lt;/Box&gt;&#10;&#10;    {/* D 页脚 */}&#10;    &lt;Text style={{ position: 'absolute', top: 664, left: 40, width: 900, fontSize: 14, color: '#8B97A8' }}&gt;数据来源：附件 1 分时电价、附件 2 负荷与光伏实际功率；对应第二问完整重跑方案&lt;/Text&gt;&#10;    &lt;Text style={{ position: 'absolute', top: 662, left: 1200, width: 40, fontSize: 16, color: '#0E3F8C', textAlign: 'right' }}&gt;1 / 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6286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第二问：概率净负荷预测与随机动态规划调度方法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381000" y="914400"/>
            <a:ext cx="53340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66800" y="990600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第一阶段｜日前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 0:00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：仅凭历史信息确定全天购电计划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048500" y="3048000"/>
            <a:ext cx="47625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820025" y="3124200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第二阶段｜日内：每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 10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分钟闭环的反馈控制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4095750" y="2743200"/>
            <a:ext cx="2857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3D7BD9"/>
                </a:solidFill>
                <a:latin typeface="Microsoft YaHei"/>
                <a:ea typeface="Microsoft YaHei"/>
              </a:rPr>
              <a:t>全天计划</a:t>
            </a: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 g_d </a:t>
            </a:r>
            <a:r>
              <a:rPr lang="zh-CN" sz="1125" b="1">
                <a:solidFill>
                  <a:srgbClr val="3D7BD9"/>
                </a:solidFill>
                <a:latin typeface="Microsoft YaHei"/>
                <a:ea typeface="Microsoft YaHei"/>
              </a:rPr>
              <a:t>固定不变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381000" y="13335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533400" y="14859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57250" y="150495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历史信息与特征构造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3400" y="18097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只使用当日之前的数据：时段与星期周期、昨日与上周同刻、近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日与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7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日滚动统计，共约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维特征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4333875" y="13335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4486275" y="14859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562475" y="1524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810125" y="1504950"/>
            <a:ext cx="1876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LightGBM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分位数回归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486275" y="18097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每日拟合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7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个模型，输出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0.20 / 0.50 / 0.65 / 0.80 / 0.90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分位及负荷、光伏中位数；样本按时间指数加权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286750" y="13335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8439150" y="14859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515350" y="1524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763000" y="1504950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预测中心修正与分时段校准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439150" y="18097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15—21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MAE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选择预测中心（本次为分开预测）；按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小时块做残差分位校准，排序消除分位交叉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381000" y="34671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533400" y="3619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36576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57250" y="3638550"/>
            <a:ext cx="2143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固定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80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分位日前线性规划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" y="39433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80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分位净需求为确定性输入，最小化购电费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Σ p_t g_t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；含库存与功率约束；输出全天普通购电计划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g_d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4333875" y="34671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4486275" y="3619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562475" y="36576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810125" y="3638550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三状态误差模型与转移矩阵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86275" y="39433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标准化误差按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±0.84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分为三态；全局计数加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平滑，再用前后各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时段局部计数修正；类内最多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7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个加权样本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8286750" y="34671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8439150" y="3619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515350" y="36576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763000" y="3638550"/>
            <a:ext cx="2476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联合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Bellman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递推与反馈执行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439150" y="39433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161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点库存网格求价值函数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W_t(x,i)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，终端系数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κ = 0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；每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分钟读实测，富余则充电或弃用，缺口则放电＋应急购电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381000" y="5143500"/>
            <a:ext cx="6858000" cy="9144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14350" y="5276850"/>
            <a:ext cx="659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执行口径与边界条件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14350" y="5524500"/>
            <a:ext cx="6591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储能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1200—10800 kWh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；充放电功率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≤5000 kW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，效率均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0.9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；应急购电按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倍电价结算；决策只用当前与过去观测；不强制日末电量回到日初，日末库存作为次日日初连续接续。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429500" y="5143500"/>
            <a:ext cx="4381500" cy="9144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562850" y="527685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输出结果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562850" y="5524500"/>
            <a:ext cx="41148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全天普通购电计划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g_d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、充放电轨迹、应急购电记录、逐时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SOC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与逐日费用，用于全年账单核算与方案对比。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857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数据来源：附件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分时电价、附件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负荷与光伏实际功率；对应第二问完整重跑方案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430000" y="6305550"/>
            <a:ext cx="38100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1 / 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2026-09-12T17:37:03Z</dcterms:created>
  <dcterms:modified xsi:type="dcterms:W3CDTF">2026-09-12T17:37:03Z</dcterms:modified>
</cp:coreProperties>
</file>