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52810ebe864c2d" /><Relationship Type="http://schemas.openxmlformats.org/officeDocument/2006/relationships/extended-properties" Target="/docProps/app.xml" Id="R787ddd0196ef487f" /><Relationship Type="http://schemas.openxmlformats.org/officeDocument/2006/relationships/officeDocument" Target="/ppt/presentation.xml" Id="R3137b482627744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fed60f237342f7"/>
  </p:sldMasterIdLst>
  <p:notesMasterIdLst>
    <p:notesMasterId xmlns:r="http://schemas.openxmlformats.org/officeDocument/2006/relationships" r:id="Ra22293bca7544b97"/>
  </p:notesMasterIdLst>
  <p:sldIdLst>
    <p:sldId xmlns:r="http://schemas.openxmlformats.org/officeDocument/2006/relationships" id="256" r:id="R7098dff14e79411a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d3da729e3948a6" /><Relationship Type="http://schemas.openxmlformats.org/officeDocument/2006/relationships/slideMaster" Target="/ppt/slideMasters/slideMaster1.xml" Id="Rd8fed60f237342f7" /><Relationship Type="http://schemas.openxmlformats.org/officeDocument/2006/relationships/notesMaster" Target="/ppt/notesMasters/notesMaster1.xml" Id="Ra22293bca7544b97" /><Relationship Type="http://schemas.openxmlformats.org/officeDocument/2006/relationships/presProps" Target="/ppt/presProps.xml" Id="R7955f80dcab5459d" /><Relationship Type="http://schemas.openxmlformats.org/officeDocument/2006/relationships/tableStyles" Target="/ppt/tableStyles.xml" Id="R8aee147bae2e4c83" /><Relationship Type="http://schemas.openxmlformats.org/officeDocument/2006/relationships/slide" Target="/ppt/slides/slide1.xml" Id="R7098dff14e7941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33c6a3103640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12f78e61e44ece" /><Relationship Type="http://schemas.openxmlformats.org/officeDocument/2006/relationships/notesMaster" Target="/ppt/notesMasters/notesMaster1.xml" Id="Re52c35c45cde4f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视觉参考：用户提供 codex-clipboard-4aeaf36e-89e2-42c7-bc53-a80e7c9dc2c7.png。仅沿用虚线分组、白底黑框、蓝色输入输出与横向技术路线风格，不沿用参考图研究内容。</a:t>
            </a:r>
          </a:p>
          <a:p xmlns:a="http://schemas.openxmlformats.org/drawingml/2006/main">
            <a:r>
              <a:t>来源：C:/Users/sss/Desktop/国赛/建模思路/第二问_完整重跑_具体解法与结果.md；C:/Users/sss/Desktop/国赛/代码/实验/q2_fresh_20260912/fresh_engine.py。</a:t>
            </a:r>
          </a:p>
          <a:p xmlns:a="http://schemas.openxmlformats.org/drawingml/2006/main">
            <a:r>
              <a:t>输入附件1固定分时电价、附件2实际负荷与光伏。仅历史信息用于日前预测，当前实测用于日内执行。原始净负荷分位预测与负荷/光伏分别预测用于中心校准；1月验证冻结 separate_center。80分位预测输入日前LP，购电计划日内固定。三状态Markov与类内至多7个样本用于Bellman；主方案终端系数0。功率5000kW，电量1200–10800kWh，充放电效率各90%，紧急购电5倍电价。图为方法概览，细部条件与近似以模型正文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ff57344c4540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e7a85924194dd4" /><Relationship Type="http://schemas.openxmlformats.org/officeDocument/2006/relationships/slideLayout" Target="/ppt/slideLayouts/slideLayout1.xml" Id="Rb5c942d9996343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c942d9996343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ae24a6d284be2" /><Relationship Type="http://schemas.openxmlformats.org/officeDocument/2006/relationships/notesSlide" Target="/ppt/notesSlides/notesSlide1.xml" Id="R95d7b44d51ec4f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overall-method">
            <a:extLst xmlns:a="http://schemas.openxmlformats.org/drawingml/2006/main">
              <a:ext uri="{FF2B5EF4-FFF2-40B4-BE49-F238E27FC236}">
                <a16:creationId xmlns:a16="http://schemas.microsoft.com/office/drawing/2014/main" id="{DD98ECED-7DDB-4C78-BD06-528944DA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2925"/>
            <a:ext cx="12096750" cy="565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stage-one">
            <a:extLst xmlns:a="http://schemas.openxmlformats.org/drawingml/2006/main">
              <a:ext uri="{FF2B5EF4-FFF2-40B4-BE49-F238E27FC236}">
                <a16:creationId xmlns:a16="http://schemas.microsoft.com/office/drawing/2014/main" id="{36C4113F-F489-4CDE-A8EF-6E5BD815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819150"/>
            <a:ext cx="3371850" cy="507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3" name="stage-two">
            <a:extLst xmlns:a="http://schemas.openxmlformats.org/drawingml/2006/main">
              <a:ext uri="{FF2B5EF4-FFF2-40B4-BE49-F238E27FC236}">
                <a16:creationId xmlns:a16="http://schemas.microsoft.com/office/drawing/2014/main" id="{E1E9BD57-C4F7-4A82-BAB1-E272ED6D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819150"/>
            <a:ext cx="3857625" cy="507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4" name="stage-three">
            <a:extLst xmlns:a="http://schemas.openxmlformats.org/drawingml/2006/main">
              <a:ext uri="{FF2B5EF4-FFF2-40B4-BE49-F238E27FC236}">
                <a16:creationId xmlns:a16="http://schemas.microsoft.com/office/drawing/2014/main" id="{0A27BECC-2794-424D-A8A1-5452FF17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819150"/>
            <a:ext cx="364807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5" name="stage-four">
            <a:extLst xmlns:a="http://schemas.openxmlformats.org/drawingml/2006/main">
              <a:ext uri="{FF2B5EF4-FFF2-40B4-BE49-F238E27FC236}">
                <a16:creationId xmlns:a16="http://schemas.microsoft.com/office/drawing/2014/main" id="{FF08B50C-DB1E-4729-84BA-ACA79DF7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05275"/>
            <a:ext cx="36480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6" name="stage-one-heading">
            <a:extLst xmlns:a="http://schemas.openxmlformats.org/drawingml/2006/main">
              <a:ext uri="{FF2B5EF4-FFF2-40B4-BE49-F238E27FC236}">
                <a16:creationId xmlns:a16="http://schemas.microsoft.com/office/drawing/2014/main" id="{4A46EEE9-A4D7-4388-AEFD-31D89E93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942975"/>
            <a:ext cx="31718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阶段1  概率净负荷预测</a:t>
            </a:r>
          </a:p>
        </p:txBody>
      </p:sp>
      <p:sp>
        <p:nvSpPr>
          <p:cNvPr id="7" name="stage-two-heading">
            <a:extLst xmlns:a="http://schemas.openxmlformats.org/drawingml/2006/main">
              <a:ext uri="{FF2B5EF4-FFF2-40B4-BE49-F238E27FC236}">
                <a16:creationId xmlns:a16="http://schemas.microsoft.com/office/drawing/2014/main" id="{8B8A2729-6FB8-45B0-928D-39AEDD85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942975"/>
            <a:ext cx="35909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阶段2  计划制定与价值评估</a:t>
            </a:r>
          </a:p>
        </p:txBody>
      </p:sp>
      <p:sp>
        <p:nvSpPr>
          <p:cNvPr id="8" name="stage-three-heading">
            <a:extLst xmlns:a="http://schemas.openxmlformats.org/drawingml/2006/main">
              <a:ext uri="{FF2B5EF4-FFF2-40B4-BE49-F238E27FC236}">
                <a16:creationId xmlns:a16="http://schemas.microsoft.com/office/drawing/2014/main" id="{F245C7C6-9E7B-424C-B5AE-75262704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942975"/>
            <a:ext cx="3429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阶段3  日内反馈控制</a:t>
            </a:r>
          </a:p>
        </p:txBody>
      </p:sp>
      <p:sp>
        <p:nvSpPr>
          <p:cNvPr id="9" name="stage-four-heading">
            <a:extLst xmlns:a="http://schemas.openxmlformats.org/drawingml/2006/main">
              <a:ext uri="{FF2B5EF4-FFF2-40B4-BE49-F238E27FC236}">
                <a16:creationId xmlns:a16="http://schemas.microsoft.com/office/drawing/2014/main" id="{0E1C216F-9129-44A8-BBDA-44B4C1E4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191000"/>
            <a:ext cx="3429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阶段4  库存衔接与核验</a:t>
            </a:r>
          </a:p>
        </p:txBody>
      </p:sp>
      <p:sp>
        <p:nvSpPr>
          <p:cNvPr id="10" name="raw-input">
            <a:extLst xmlns:a="http://schemas.openxmlformats.org/drawingml/2006/main">
              <a:ext uri="{FF2B5EF4-FFF2-40B4-BE49-F238E27FC236}">
                <a16:creationId xmlns:a16="http://schemas.microsoft.com/office/drawing/2014/main" id="{E23035A1-EF32-462E-8015-528E5EE2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990600"/>
            <a:ext cx="1162050" cy="847725"/>
          </a:xfrm>
          <a:prstGeom xmlns:a="http://schemas.openxmlformats.org/drawingml/2006/main" prst="roundRect">
            <a:avLst>
              <a:gd name="adj" fmla="val 1573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原始</a:t>
            </a:r>
          </a:p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数据</a:t>
            </a:r>
          </a:p>
        </p:txBody>
      </p:sp>
      <p:sp>
        <p:nvSpPr>
          <p:cNvPr id="11" name="historical-features">
            <a:extLst xmlns:a="http://schemas.openxmlformats.org/drawingml/2006/main">
              <a:ext uri="{FF2B5EF4-FFF2-40B4-BE49-F238E27FC236}">
                <a16:creationId xmlns:a16="http://schemas.microsoft.com/office/drawing/2014/main" id="{B34342E2-CFFF-488B-B9B5-83E16BA4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095625"/>
            <a:ext cx="1162050" cy="847725"/>
          </a:xfrm>
          <a:prstGeom xmlns:a="http://schemas.openxmlformats.org/drawingml/2006/main" prst="roundRect">
            <a:avLst>
              <a:gd name="adj" fmla="val 1573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特征</a:t>
            </a:r>
          </a:p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构造</a:t>
            </a:r>
          </a:p>
        </p:txBody>
      </p:sp>
      <p:cxnSp>
        <p:nvCxnSpPr>
          <p:cNvPr id="5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809625" y="1838325"/>
            <a:ext cx="0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sp>
        <p:nvSpPr>
          <p:cNvPr id="13" name="lightgbm">
            <a:extLst xmlns:a="http://schemas.openxmlformats.org/drawingml/2006/main">
              <a:ext uri="{FF2B5EF4-FFF2-40B4-BE49-F238E27FC236}">
                <a16:creationId xmlns:a16="http://schemas.microsoft.com/office/drawing/2014/main" id="{7ED928A9-F627-4BF9-9749-1DD2A3DD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81150"/>
            <a:ext cx="3048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LightGBM 分位数回归</a:t>
            </a:r>
          </a:p>
        </p:txBody>
      </p:sp>
      <p:sp>
        <p:nvSpPr>
          <p:cNvPr id="14" name="center-models">
            <a:extLst xmlns:a="http://schemas.openxmlformats.org/drawingml/2006/main">
              <a:ext uri="{FF2B5EF4-FFF2-40B4-BE49-F238E27FC236}">
                <a16:creationId xmlns:a16="http://schemas.microsoft.com/office/drawing/2014/main" id="{28248915-C396-4762-B51F-D5699651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81275"/>
            <a:ext cx="3124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55C96"/>
            </a:solidFill>
            <a:prstDash val="dash"/>
          </a:ln>
        </p:spPr>
      </p:sp>
      <p:sp>
        <p:nvSpPr>
          <p:cNvPr id="15" name="direct-netload">
            <a:extLst xmlns:a="http://schemas.openxmlformats.org/drawingml/2006/main">
              <a:ext uri="{FF2B5EF4-FFF2-40B4-BE49-F238E27FC236}">
                <a16:creationId xmlns:a16="http://schemas.microsoft.com/office/drawing/2014/main" id="{55398363-9288-4C3E-8617-3CF9D5A1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24150"/>
            <a:ext cx="13811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净负荷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直接预测</a:t>
            </a:r>
          </a:p>
        </p:txBody>
      </p:sp>
      <p:sp>
        <p:nvSpPr>
          <p:cNvPr id="16" name="separate-prediction">
            <a:extLst xmlns:a="http://schemas.openxmlformats.org/drawingml/2006/main">
              <a:ext uri="{FF2B5EF4-FFF2-40B4-BE49-F238E27FC236}">
                <a16:creationId xmlns:a16="http://schemas.microsoft.com/office/drawing/2014/main" id="{07997942-9D9A-4D15-AF29-6BEF1BAB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24150"/>
            <a:ext cx="13620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负荷与光伏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分别预测</a:t>
            </a:r>
          </a:p>
        </p:txBody>
      </p:sp>
      <p:sp>
        <p:nvSpPr>
          <p:cNvPr id="17" name="historical-calibration">
            <a:extLst xmlns:a="http://schemas.openxmlformats.org/drawingml/2006/main">
              <a:ext uri="{FF2B5EF4-FFF2-40B4-BE49-F238E27FC236}">
                <a16:creationId xmlns:a16="http://schemas.microsoft.com/office/drawing/2014/main" id="{96DE4B78-B753-4935-B158-CC5CA4CF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62425"/>
            <a:ext cx="3048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预测中心修正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历史残差校准与排序</a:t>
            </a:r>
          </a:p>
        </p:txBody>
      </p:sp>
      <p:sp>
        <p:nvSpPr>
          <p:cNvPr id="18" name="netload-quantiles">
            <a:extLst xmlns:a="http://schemas.openxmlformats.org/drawingml/2006/main">
              <a:ext uri="{FF2B5EF4-FFF2-40B4-BE49-F238E27FC236}">
                <a16:creationId xmlns:a16="http://schemas.microsoft.com/office/drawing/2014/main" id="{F88F112B-EB8F-41BA-951E-34313A7E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4827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净负荷分位预测</a:t>
            </a:r>
          </a:p>
        </p:txBody>
      </p:sp>
      <p:cxnSp>
        <p:nvCxnSpPr>
          <p:cNvPr id="62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1390650" y="1881188"/>
            <a:ext cx="704850" cy="1638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cxnSp>
        <p:nvCxnSpPr>
          <p:cNvPr id="63" name=""/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2862263" y="2181225"/>
            <a:ext cx="757238" cy="542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64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3619500" y="2181225"/>
            <a:ext cx="766763" cy="542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65" name=""/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2862263" y="3457575"/>
            <a:ext cx="757238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66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3619500" y="3457575"/>
            <a:ext cx="766763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67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619500" y="4876800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25" name="dayahead-linear-program">
            <a:extLst xmlns:a="http://schemas.openxmlformats.org/drawingml/2006/main">
              <a:ext uri="{FF2B5EF4-FFF2-40B4-BE49-F238E27FC236}">
                <a16:creationId xmlns:a16="http://schemas.microsoft.com/office/drawing/2014/main" id="{C5E2C710-9256-430F-9AB0-40895A02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657350"/>
            <a:ext cx="16383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日前线性规划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80分位需求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分时电价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实际日初库存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全天固定购电</a:t>
            </a:r>
          </a:p>
        </p:txBody>
      </p:sp>
      <p:sp>
        <p:nvSpPr>
          <p:cNvPr id="26" name="markov-atoms">
            <a:extLst xmlns:a="http://schemas.openxmlformats.org/drawingml/2006/main">
              <a:ext uri="{FF2B5EF4-FFF2-40B4-BE49-F238E27FC236}">
                <a16:creationId xmlns:a16="http://schemas.microsoft.com/office/drawing/2014/main" id="{4323968A-932F-439D-89C9-B2D3F523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657350"/>
            <a:ext cx="1619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三状态模型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Markov 转移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每类至多7个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加权误差样本</a:t>
            </a:r>
          </a:p>
        </p:txBody>
      </p:sp>
      <p:sp>
        <p:nvSpPr>
          <p:cNvPr id="27" name="bellman-policy">
            <a:extLst xmlns:a="http://schemas.openxmlformats.org/drawingml/2006/main">
              <a:ext uri="{FF2B5EF4-FFF2-40B4-BE49-F238E27FC236}">
                <a16:creationId xmlns:a16="http://schemas.microsoft.com/office/drawing/2014/main" id="{9A1810F8-B01F-45E0-B785-480B629F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33875"/>
            <a:ext cx="35147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Bellman 动态规划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计算固定计划下库存价值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最小化预期紧急购电费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终端系数 κ = 0</a:t>
            </a:r>
          </a:p>
        </p:txBody>
      </p:sp>
      <p:cxnSp>
        <p:nvCxnSpPr>
          <p:cNvPr id="71" name=""/>
          <p:cNvCxnSpPr>
            <a:stCxn xmlns:a="http://schemas.openxmlformats.org/drawingml/2006/main" id="2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6638925" y="3257550"/>
            <a:ext cx="947738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72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7586663" y="3257550"/>
            <a:ext cx="947738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73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5305425" y="3357563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1" name="current-measurement">
            <a:extLst xmlns:a="http://schemas.openxmlformats.org/drawingml/2006/main">
              <a:ext uri="{FF2B5EF4-FFF2-40B4-BE49-F238E27FC236}">
                <a16:creationId xmlns:a16="http://schemas.microsoft.com/office/drawing/2014/main" id="{7D1CF7CD-DF8B-4464-82B5-F20AEE4D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14475"/>
            <a:ext cx="3362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当前实测：净负荷与库存</a:t>
            </a:r>
          </a:p>
        </p:txBody>
      </p:sp>
      <p:sp>
        <p:nvSpPr>
          <p:cNvPr id="32" name="surplus-control">
            <a:extLst xmlns:a="http://schemas.openxmlformats.org/drawingml/2006/main">
              <a:ext uri="{FF2B5EF4-FFF2-40B4-BE49-F238E27FC236}">
                <a16:creationId xmlns:a16="http://schemas.microsoft.com/office/drawing/2014/main" id="{2E02124B-E0F0-47E8-BC98-12D3F95A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19375"/>
            <a:ext cx="16097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富余时段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优先充电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剩余弃用</a:t>
            </a:r>
          </a:p>
        </p:txBody>
      </p:sp>
      <p:sp>
        <p:nvSpPr>
          <p:cNvPr id="33" name="deficit-control">
            <a:extLst xmlns:a="http://schemas.openxmlformats.org/drawingml/2006/main">
              <a:ext uri="{FF2B5EF4-FFF2-40B4-BE49-F238E27FC236}">
                <a16:creationId xmlns:a16="http://schemas.microsoft.com/office/drawing/2014/main" id="{33771D64-AF8F-4264-A9D4-B0F73E6B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2619375"/>
            <a:ext cx="1581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缺口时段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择优放电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紧急购电补足</a:t>
            </a:r>
          </a:p>
        </p:txBody>
      </p:sp>
      <p:cxnSp>
        <p:nvCxnSpPr>
          <p:cNvPr id="77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10806113" y="2066925"/>
            <a:ext cx="876300" cy="552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31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11682413" y="2066925"/>
            <a:ext cx="890588" cy="552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7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9515475" y="2257425"/>
            <a:ext cx="342900" cy="11001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7" name="inventory-continuity">
            <a:extLst xmlns:a="http://schemas.openxmlformats.org/drawingml/2006/main">
              <a:ext uri="{FF2B5EF4-FFF2-40B4-BE49-F238E27FC236}">
                <a16:creationId xmlns:a16="http://schemas.microsoft.com/office/drawing/2014/main" id="{9DB34A0E-AF5A-482F-AF91-C8EA07D0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19650"/>
            <a:ext cx="16097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更新储电量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跨日连续</a:t>
            </a:r>
          </a:p>
        </p:txBody>
      </p:sp>
      <p:sp>
        <p:nvSpPr>
          <p:cNvPr id="38" name="bill-and-constraints">
            <a:extLst xmlns:a="http://schemas.openxmlformats.org/drawingml/2006/main">
              <a:ext uri="{FF2B5EF4-FFF2-40B4-BE49-F238E27FC236}">
                <a16:creationId xmlns:a16="http://schemas.microsoft.com/office/drawing/2014/main" id="{479ED8F7-ADEB-4FA4-A4AB-575B3FBD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4819650"/>
            <a:ext cx="1581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费用与约束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核验</a:t>
            </a:r>
          </a:p>
        </p:txBody>
      </p:sp>
      <p:cxnSp>
        <p:nvCxnSpPr>
          <p:cNvPr id="82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11682413" y="3695700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cxnSp>
        <p:nvCxnSpPr>
          <p:cNvPr id="83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1610975" y="52292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41" name="results">
            <a:extLst xmlns:a="http://schemas.openxmlformats.org/drawingml/2006/main">
              <a:ext uri="{FF2B5EF4-FFF2-40B4-BE49-F238E27FC236}">
                <a16:creationId xmlns:a16="http://schemas.microsoft.com/office/drawing/2014/main" id="{8BE9CDFE-A512-4B1F-93B7-23E6DF1E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181225"/>
            <a:ext cx="1009650" cy="21907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调度</a:t>
            </a:r>
          </a:p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方案</a:t>
            </a:r>
          </a:p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与</a:t>
            </a:r>
          </a:p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费用</a:t>
            </a:r>
          </a:p>
        </p:txBody>
      </p:sp>
      <p:cxnSp>
        <p:nvCxnSpPr>
          <p:cNvPr id="85" name=""/>
          <p:cNvCxnSpPr>
            <a:stCxn xmlns:a="http://schemas.openxmlformats.org/drawingml/2006/main" id="38" idx="3"/>
            <a:endCxn xmlns:a="http://schemas.openxmlformats.org/drawingml/2006/main" id="41" idx="2"/>
          </p:cNvCxnSpPr>
          <p:nvPr/>
        </p:nvCxnSpPr>
        <p:spPr>
          <a:xfrm xmlns:a="http://schemas.openxmlformats.org/drawingml/2006/main" flipV="1">
            <a:off x="13363575" y="4371975"/>
            <a:ext cx="1143000" cy="857250"/>
          </a:xfrm>
          <a:prstGeom xmlns:a="http://schemas.openxmlformats.org/drawingml/2006/main" prst="bentConnector2">
            <a:avLst/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sp>
        <p:nvSpPr>
          <p:cNvPr id="43" name="bottom-note">
            <a:extLst xmlns:a="http://schemas.openxmlformats.org/drawingml/2006/main">
              <a:ext uri="{FF2B5EF4-FFF2-40B4-BE49-F238E27FC236}">
                <a16:creationId xmlns:a16="http://schemas.microsoft.com/office/drawing/2014/main" id="{C71CF20D-7B30-4D31-88ED-C3D8426F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315075"/>
            <a:ext cx="11782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333333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333333"/>
                </a:solidFill>
                <a:latin typeface="SimSun"/>
                <a:ea typeface="SimSun"/>
                <a:cs typeface="SimSun"/>
              </a:rPr>
              <a:t>日内每10分钟执行反馈控制；日末库存作为次日日初库存，不重置、不强制每日首末相等</a:t>
            </a:r>
          </a:p>
        </p:txBody>
      </p:sp>
    </p:spTree>
    <p:extLst>
      <p:ext uri="{BB962C8B-B14F-4D97-AF65-F5344CB8AC3E}">
        <p14:creationId xmlns:p14="http://schemas.microsoft.com/office/powerpoint/2010/main" val="962373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2026-09-12T09:30:54.3090000Z</dcterms:created>
  <dcterms:modified xsi:type="dcterms:W3CDTF">2026-09-12T09:30:54.3090000Z</dcterms:modified>
</coreProperties>
</file>