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b1ea0e94d4bf2" /><Relationship Type="http://schemas.openxmlformats.org/officeDocument/2006/relationships/extended-properties" Target="/docProps/app.xml" Id="R0acfb0ea824b42d3" /><Relationship Type="http://schemas.openxmlformats.org/officeDocument/2006/relationships/officeDocument" Target="/ppt/presentation.xml" Id="R9dff1f6183a445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1f8933795345d7"/>
  </p:sldMasterIdLst>
  <p:notesMasterIdLst>
    <p:notesMasterId xmlns:r="http://schemas.openxmlformats.org/officeDocument/2006/relationships" r:id="Rf0b1d971ac2544ca"/>
  </p:notesMasterIdLst>
  <p:sldIdLst>
    <p:sldId xmlns:r="http://schemas.openxmlformats.org/officeDocument/2006/relationships" id="256" r:id="R808a31b85aee4160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39a4bbbe4b4fb2" /><Relationship Type="http://schemas.openxmlformats.org/officeDocument/2006/relationships/slideMaster" Target="/ppt/slideMasters/slideMaster1.xml" Id="R431f8933795345d7" /><Relationship Type="http://schemas.openxmlformats.org/officeDocument/2006/relationships/notesMaster" Target="/ppt/notesMasters/notesMaster1.xml" Id="Rf0b1d971ac2544ca" /><Relationship Type="http://schemas.openxmlformats.org/officeDocument/2006/relationships/presProps" Target="/ppt/presProps.xml" Id="Rb4a0df1ad6d14c58" /><Relationship Type="http://schemas.openxmlformats.org/officeDocument/2006/relationships/tableStyles" Target="/ppt/tableStyles.xml" Id="Rafd352916a654452" /><Relationship Type="http://schemas.openxmlformats.org/officeDocument/2006/relationships/slide" Target="/ppt/slides/slide1.xml" Id="R808a31b85aee41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3a07a20c864b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9655ac9d2c4de7" /><Relationship Type="http://schemas.openxmlformats.org/officeDocument/2006/relationships/notesMaster" Target="/ppt/notesMasters/notesMaster1.xml" Id="R1927868cef7d4b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问技术路线图。视觉样式直接沿用第一问、第二问、第三问参考风格图的构建器，画布比例、SimSun字体、蓝色与灰色虚线分区、框线宽度、箭头和圆角输入输出框保持一致。来源：建模思路/问题四/第四问A_编程实施方案.md；代码/实验/q4_independent_codex_20260912/README.md、独立计算报告.md及model.py、run.py、deliver.py、audit.py。第四问A将电价不确定性加入第二问和第三问框架：复用经哈希核验的Q2/Q3净负荷预测缓存，新建因果电价预测，并按同一历史日期配对净负荷与价格误差，形成3×3共9类联合状态及配对代表样本。4-2每天00:00用q=0.80净需求和预测价生成全天固定普通购电计划；4-3在00:00生成初始计划，06:00、12:00、18:00读取当时可用信息，对未执行时段比较多个分位候选与保持不变候选，按调整净费用加联合Bellman预期紧急购电费选择有效计划。未来价格、未来实际净负荷和未发布预报不得进入当前计划；执行时才揭示当前真实净负荷、真实交付价与SOC，联合动态规划按当前样本选择互斥充放电动作，缺口不足按5倍实际价紧急购电。账单使用附件4交付区间真实价，4-3逐笔保留增购、退款和违约费；库存跨日连续传递。独立实现正式结果为A42和A43_111，另含B42/B43、八种更新时间组合、静态重计价、敏感性及指定日期表。图中只呈现方法链，不重跑求解；80分位LP、60kWh SOC网格、7个历史代表点、零终端价值和滚动窗口冻结属于审核报告列明的近似。输出result4-2.xlsx、result4-3.xlsx、账本、轨迹、对照和核验结果。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c49040d6147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987d1c66d4d07" /><Relationship Type="http://schemas.openxmlformats.org/officeDocument/2006/relationships/slideLayout" Target="/ppt/slideLayouts/slideLayout1.xml" Id="R3a1b109d362b49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1b109d362b49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09c7f5d4b41ef" /><Relationship Type="http://schemas.openxmlformats.org/officeDocument/2006/relationships/notesSlide" Target="/ppt/notesSlides/notesSlide1.xml" Id="R7992ffe2746540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overall-method">
            <a:extLst xmlns:a="http://schemas.openxmlformats.org/drawingml/2006/main">
              <a:ext uri="{FF2B5EF4-FFF2-40B4-BE49-F238E27FC236}">
                <a16:creationId xmlns:a16="http://schemas.microsoft.com/office/drawing/2014/main" id="{0D3CCCBC-9336-4B3D-B90A-C1B815FB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"/>
            <a:ext cx="12096750" cy="565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tage-one">
            <a:extLst xmlns:a="http://schemas.openxmlformats.org/drawingml/2006/main">
              <a:ext uri="{FF2B5EF4-FFF2-40B4-BE49-F238E27FC236}">
                <a16:creationId xmlns:a16="http://schemas.microsoft.com/office/drawing/2014/main" id="{049F11AA-C1C2-47C8-8808-5977F37E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819150"/>
            <a:ext cx="3371850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stage-two">
            <a:extLst xmlns:a="http://schemas.openxmlformats.org/drawingml/2006/main">
              <a:ext uri="{FF2B5EF4-FFF2-40B4-BE49-F238E27FC236}">
                <a16:creationId xmlns:a16="http://schemas.microsoft.com/office/drawing/2014/main" id="{3D2A5D25-9FEB-43DE-9A50-773F0933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19150"/>
            <a:ext cx="3857625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stage-three">
            <a:extLst xmlns:a="http://schemas.openxmlformats.org/drawingml/2006/main">
              <a:ext uri="{FF2B5EF4-FFF2-40B4-BE49-F238E27FC236}">
                <a16:creationId xmlns:a16="http://schemas.microsoft.com/office/drawing/2014/main" id="{35EBFDDF-C9F2-4001-A8A2-0D14BB0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19150"/>
            <a:ext cx="36480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stage-four">
            <a:extLst xmlns:a="http://schemas.openxmlformats.org/drawingml/2006/main">
              <a:ext uri="{FF2B5EF4-FFF2-40B4-BE49-F238E27FC236}">
                <a16:creationId xmlns:a16="http://schemas.microsoft.com/office/drawing/2014/main" id="{277493C9-1D5D-4A90-A5EA-83AC153F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05275"/>
            <a:ext cx="3648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" name="stage-one-heading">
            <a:extLst xmlns:a="http://schemas.openxmlformats.org/drawingml/2006/main">
              <a:ext uri="{FF2B5EF4-FFF2-40B4-BE49-F238E27FC236}">
                <a16:creationId xmlns:a16="http://schemas.microsoft.com/office/drawing/2014/main" id="{D9849C52-D638-4AA6-ACE5-558DB594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942975"/>
            <a:ext cx="3171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阶段1  因果预测与联合情景</a:t>
            </a:r>
          </a:p>
        </p:txBody>
      </p:sp>
      <p:sp>
        <p:nvSpPr>
          <p:cNvPr id="7" name="stage-two-heading">
            <a:extLst xmlns:a="http://schemas.openxmlformats.org/drawingml/2006/main">
              <a:ext uri="{FF2B5EF4-FFF2-40B4-BE49-F238E27FC236}">
                <a16:creationId xmlns:a16="http://schemas.microsoft.com/office/drawing/2014/main" id="{59583B3B-FED3-4375-87CF-21B0C2B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942975"/>
            <a:ext cx="3590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阶段2  4-2/4-3购电计划</a:t>
            </a:r>
          </a:p>
        </p:txBody>
      </p:sp>
      <p:sp>
        <p:nvSpPr>
          <p:cNvPr id="8" name="stage-three-heading">
            <a:extLst xmlns:a="http://schemas.openxmlformats.org/drawingml/2006/main">
              <a:ext uri="{FF2B5EF4-FFF2-40B4-BE49-F238E27FC236}">
                <a16:creationId xmlns:a16="http://schemas.microsoft.com/office/drawing/2014/main" id="{0FE1EA94-39CB-4A37-9CAB-291C741A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942975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阶段3  九状态滚动控制</a:t>
            </a:r>
          </a:p>
        </p:txBody>
      </p:sp>
      <p:sp>
        <p:nvSpPr>
          <p:cNvPr id="9" name="stage-four-heading">
            <a:extLst xmlns:a="http://schemas.openxmlformats.org/drawingml/2006/main">
              <a:ext uri="{FF2B5EF4-FFF2-40B4-BE49-F238E27FC236}">
                <a16:creationId xmlns:a16="http://schemas.microsoft.com/office/drawing/2014/main" id="{4DA35FE3-AFCC-48AB-BAA8-89E5724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阶段4  真实结算与结果核验</a:t>
            </a:r>
          </a:p>
        </p:txBody>
      </p:sp>
      <p:sp>
        <p:nvSpPr>
          <p:cNvPr id="10" name="raw-input">
            <a:extLst xmlns:a="http://schemas.openxmlformats.org/drawingml/2006/main">
              <a:ext uri="{FF2B5EF4-FFF2-40B4-BE49-F238E27FC236}">
                <a16:creationId xmlns:a16="http://schemas.microsoft.com/office/drawing/2014/main" id="{E0119D96-772A-4A6B-BA0F-CB6D07FB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90600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附件1–4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原始数据</a:t>
            </a:r>
          </a:p>
        </p:txBody>
      </p:sp>
      <p:sp>
        <p:nvSpPr>
          <p:cNvPr id="11" name="historical-features">
            <a:extLst xmlns:a="http://schemas.openxmlformats.org/drawingml/2006/main">
              <a:ext uri="{FF2B5EF4-FFF2-40B4-BE49-F238E27FC236}">
                <a16:creationId xmlns:a16="http://schemas.microsoft.com/office/drawing/2014/main" id="{0DB4EA8E-2113-4DCB-B430-BCCDDE4B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95625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Q2/Q3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预测缓存</a:t>
            </a:r>
          </a:p>
        </p:txBody>
      </p: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809625" y="1838325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13" name="forecast-source">
            <a:extLst xmlns:a="http://schemas.openxmlformats.org/drawingml/2006/main">
              <a:ext uri="{FF2B5EF4-FFF2-40B4-BE49-F238E27FC236}">
                <a16:creationId xmlns:a16="http://schemas.microsoft.com/office/drawing/2014/main" id="{07BE84A1-FD84-42CD-8727-9E1D9B46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95425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负荷、光伏与电价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因果预测（0/6/12/18时）</a:t>
            </a:r>
          </a:p>
        </p:txBody>
      </p:sp>
      <p:sp>
        <p:nvSpPr>
          <p:cNvPr id="14" name="forecast-steps">
            <a:extLst xmlns:a="http://schemas.openxmlformats.org/drawingml/2006/main">
              <a:ext uri="{FF2B5EF4-FFF2-40B4-BE49-F238E27FC236}">
                <a16:creationId xmlns:a16="http://schemas.microsoft.com/office/drawing/2014/main" id="{E718A5E2-CD00-4C24-BFDE-33F2E9CB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05075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15" name="publish-times">
            <a:extLst xmlns:a="http://schemas.openxmlformats.org/drawingml/2006/main">
              <a:ext uri="{FF2B5EF4-FFF2-40B4-BE49-F238E27FC236}">
                <a16:creationId xmlns:a16="http://schemas.microsoft.com/office/drawing/2014/main" id="{293804C4-5CF2-4EE8-BA3A-CBADD7BE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47950"/>
            <a:ext cx="13811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历史配对误差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同一日期联合抽取</a:t>
            </a:r>
          </a:p>
        </p:txBody>
      </p:sp>
      <p:sp>
        <p:nvSpPr>
          <p:cNvPr id="16" name="interpolate">
            <a:extLst xmlns:a="http://schemas.openxmlformats.org/drawingml/2006/main">
              <a:ext uri="{FF2B5EF4-FFF2-40B4-BE49-F238E27FC236}">
                <a16:creationId xmlns:a16="http://schemas.microsoft.com/office/drawing/2014/main" id="{7FFAB335-778E-484B-87F3-321820E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47950"/>
            <a:ext cx="13620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9状态情景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3×3平滑转移</a:t>
            </a:r>
          </a:p>
        </p:txBody>
      </p:sp>
      <p:sp>
        <p:nvSpPr>
          <p:cNvPr id="17" name="conditional-netload">
            <a:extLst xmlns:a="http://schemas.openxmlformats.org/drawingml/2006/main">
              <a:ext uri="{FF2B5EF4-FFF2-40B4-BE49-F238E27FC236}">
                <a16:creationId xmlns:a16="http://schemas.microsoft.com/office/drawing/2014/main" id="{82E4E2E7-F6C1-4838-910D-882760AA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3048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联合净负荷—电价模型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中心 + 标准化配对误差</a:t>
            </a:r>
          </a:p>
        </p:txBody>
      </p:sp>
      <p:sp>
        <p:nvSpPr>
          <p:cNvPr id="18" name="quantile-versions">
            <a:extLst xmlns:a="http://schemas.openxmlformats.org/drawingml/2006/main">
              <a:ext uri="{FF2B5EF4-FFF2-40B4-BE49-F238E27FC236}">
                <a16:creationId xmlns:a16="http://schemas.microsoft.com/office/drawing/2014/main" id="{D4814C42-B30E-4434-9D06-24633D28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Q42 / Q43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P_hat 与样本权重</a:t>
            </a:r>
          </a:p>
        </p:txBody>
      </p: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390650" y="1857375"/>
            <a:ext cx="704850" cy="1662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862263" y="2219325"/>
            <a:ext cx="757238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4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619500" y="2219325"/>
            <a:ext cx="766763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5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862263" y="3381375"/>
            <a:ext cx="757238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619500" y="3381375"/>
            <a:ext cx="766763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619500" y="4714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5" name="initial-plan">
            <a:extLst xmlns:a="http://schemas.openxmlformats.org/drawingml/2006/main">
              <a:ext uri="{FF2B5EF4-FFF2-40B4-BE49-F238E27FC236}">
                <a16:creationId xmlns:a16="http://schemas.microsoft.com/office/drawing/2014/main" id="{9C90F534-5F4B-4CF9-9FA9-62EBB3E8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43050"/>
            <a:ext cx="16954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4-2 00:00初始计划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q=0.80净需求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全天固定普通购电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4-3同样生成零点版</a:t>
            </a:r>
          </a:p>
        </p:txBody>
      </p:sp>
      <p:sp>
        <p:nvSpPr>
          <p:cNvPr id="26" name="adjustment-candidates">
            <a:extLst xmlns:a="http://schemas.openxmlformats.org/drawingml/2006/main">
              <a:ext uri="{FF2B5EF4-FFF2-40B4-BE49-F238E27FC236}">
                <a16:creationId xmlns:a16="http://schemas.microsoft.com/office/drawing/2014/main" id="{AEBB1F03-621A-40DE-818E-DA0EBDAC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543050"/>
            <a:ext cx="16573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4-3 06/12/18时更新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候选 q=0.50/0.65/0.80/0.90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保留保持不变候选</a:t>
            </a:r>
          </a:p>
        </p:txBody>
      </p:sp>
      <p:sp>
        <p:nvSpPr>
          <p:cNvPr id="27" name="candidate-evaluation">
            <a:extLst xmlns:a="http://schemas.openxmlformats.org/drawingml/2006/main">
              <a:ext uri="{FF2B5EF4-FFF2-40B4-BE49-F238E27FC236}">
                <a16:creationId xmlns:a16="http://schemas.microsoft.com/office/drawing/2014/main" id="{8B06F37C-90A2-4BE1-AE5A-F29D1B56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351472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稀疏LP候选与有效计划选择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冻结已执行时段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联合DP评分：调整费 + 预期紧急费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只对未来未执行段重新计划</a:t>
            </a:r>
          </a:p>
        </p:txBody>
      </p:sp>
      <p:cxnSp>
        <p:nvCxnSpPr>
          <p:cNvPr id="71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667500" y="3228975"/>
            <a:ext cx="919163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7586663" y="3228975"/>
            <a:ext cx="928688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305425" y="335756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1" name="current-observation">
            <a:extLst xmlns:a="http://schemas.openxmlformats.org/drawingml/2006/main">
              <a:ext uri="{FF2B5EF4-FFF2-40B4-BE49-F238E27FC236}">
                <a16:creationId xmlns:a16="http://schemas.microsoft.com/office/drawing/2014/main" id="{D72F6876-9787-428A-B820-758F6411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14475"/>
            <a:ext cx="3362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联合Bellman价值函数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9状态 × 60 kWh SOC网格</a:t>
            </a:r>
          </a:p>
        </p:txBody>
      </p:sp>
      <p:sp>
        <p:nvSpPr>
          <p:cNvPr id="32" name="surplus-control">
            <a:extLst xmlns:a="http://schemas.openxmlformats.org/drawingml/2006/main">
              <a:ext uri="{FF2B5EF4-FFF2-40B4-BE49-F238E27FC236}">
                <a16:creationId xmlns:a16="http://schemas.microsoft.com/office/drawing/2014/main" id="{57EA0564-BE44-46F4-B0B7-02621EB6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9850"/>
            <a:ext cx="16097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当前揭示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净负荷、实际价、SOC</a:t>
            </a:r>
          </a:p>
        </p:txBody>
      </p:sp>
      <p:sp>
        <p:nvSpPr>
          <p:cNvPr id="33" name="deficit-control">
            <a:extLst xmlns:a="http://schemas.openxmlformats.org/drawingml/2006/main">
              <a:ext uri="{FF2B5EF4-FFF2-40B4-BE49-F238E27FC236}">
                <a16:creationId xmlns:a16="http://schemas.microsoft.com/office/drawing/2014/main" id="{5E04B8E5-BFF9-49EA-9453-15BF22A2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609850"/>
            <a:ext cx="1581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互斥动作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充电/放电；不足5p购电</a:t>
            </a:r>
          </a:p>
        </p:txBody>
      </p:sp>
      <p:cxnSp>
        <p:nvCxnSpPr>
          <p:cNvPr id="77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806113" y="2066925"/>
            <a:ext cx="876300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1682413" y="2066925"/>
            <a:ext cx="890588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9515475" y="2257425"/>
            <a:ext cx="342900" cy="1100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7" name="settlement-ledger">
            <a:extLst xmlns:a="http://schemas.openxmlformats.org/drawingml/2006/main">
              <a:ext uri="{FF2B5EF4-FFF2-40B4-BE49-F238E27FC236}">
                <a16:creationId xmlns:a16="http://schemas.microsoft.com/office/drawing/2014/main" id="{62F12BCB-ACCF-4D13-924D-A74ED53C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5825"/>
            <a:ext cx="16097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真实价逐笔结算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4-2：p·g + 5p·e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4-3：初始费 + 调整账本 + 紧急费</a:t>
            </a:r>
          </a:p>
        </p:txBody>
      </p:sp>
      <p:sp>
        <p:nvSpPr>
          <p:cNvPr id="38" name="cross-day-constraints">
            <a:extLst xmlns:a="http://schemas.openxmlformats.org/drawingml/2006/main">
              <a:ext uri="{FF2B5EF4-FFF2-40B4-BE49-F238E27FC236}">
                <a16:creationId xmlns:a16="http://schemas.microsoft.com/office/drawing/2014/main" id="{80167B92-E620-4542-AA23-876E62DA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695825"/>
            <a:ext cx="1581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核验与对照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守恒、SOC、功率、跨日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B42/B43、八种mask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敏感性、指定日表</a:t>
            </a:r>
          </a:p>
        </p:txBody>
      </p:sp>
      <p:cxnSp>
        <p:nvCxnSpPr>
          <p:cNvPr id="8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682413" y="36957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1610975" y="51816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1" name="results">
            <a:extLst xmlns:a="http://schemas.openxmlformats.org/drawingml/2006/main">
              <a:ext uri="{FF2B5EF4-FFF2-40B4-BE49-F238E27FC236}">
                <a16:creationId xmlns:a16="http://schemas.microsoft.com/office/drawing/2014/main" id="{9AD5EFE4-EFB6-47DC-BFB4-AF09792D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81225"/>
            <a:ext cx="1009650" cy="21907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result4-2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result4-3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与对照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结果</a:t>
            </a:r>
          </a:p>
        </p:txBody>
      </p:sp>
      <p:cxnSp>
        <p:nvCxnSpPr>
          <p:cNvPr id="85" name=""/>
          <p:cNvCxnSpPr>
            <a:stCxn xmlns:a="http://schemas.openxmlformats.org/drawingml/2006/main" id="38" idx="3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V="1">
            <a:off x="13363575" y="4371975"/>
            <a:ext cx="1143000" cy="809625"/>
          </a:xfrm>
          <a:prstGeom xmlns:a="http://schemas.openxmlformats.org/drawingml/2006/main" prst="bentConnector2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4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510F0D43-EAB4-4C94-BB64-733353DF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15075"/>
            <a:ext cx="1178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333333"/>
                </a:solidFill>
                <a:latin typeface="SimSun"/>
                <a:ea typeface="SimSun"/>
                <a:cs typeface="SimSun"/>
              </a:rPr>
              <a:t>未来价格不可偷看；交付后按附件4真实价结算；4-3保留逐笔调整，输出A/B方案与八种更新组合</a:t>
            </a:r>
          </a:p>
        </p:txBody>
      </p:sp>
    </p:spTree>
    <p:extLst>
      <p:ext uri="{BB962C8B-B14F-4D97-AF65-F5344CB8AC3E}">
        <p14:creationId xmlns:p14="http://schemas.microsoft.com/office/powerpoint/2010/main" val="1251780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2026-09-12T09:57:52.0360000Z</dcterms:created>
  <dcterms:modified xsi:type="dcterms:W3CDTF">2026-09-12T09:57:52.0360000Z</dcterms:modified>
</coreProperties>
</file>