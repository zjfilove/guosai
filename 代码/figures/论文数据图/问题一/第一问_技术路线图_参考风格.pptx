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64d7f45f004e0c" /><Relationship Type="http://schemas.openxmlformats.org/officeDocument/2006/relationships/extended-properties" Target="/docProps/app.xml" Id="Re55487c7d5b24b1f" /><Relationship Type="http://schemas.openxmlformats.org/officeDocument/2006/relationships/officeDocument" Target="/ppt/presentation.xml" Id="Rd1e301341f644a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4e77e60cc94272"/>
  </p:sldMasterIdLst>
  <p:notesMasterIdLst>
    <p:notesMasterId xmlns:r="http://schemas.openxmlformats.org/officeDocument/2006/relationships" r:id="Rb22718f8601d4769"/>
  </p:notesMasterIdLst>
  <p:sldIdLst>
    <p:sldId xmlns:r="http://schemas.openxmlformats.org/officeDocument/2006/relationships" id="256" r:id="R344345ea51aa44aa"/>
  </p:sldIdLst>
  <p:sldSz cx="15240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e6ea9343294d56" /><Relationship Type="http://schemas.openxmlformats.org/officeDocument/2006/relationships/slideMaster" Target="/ppt/slideMasters/slideMaster1.xml" Id="Rb04e77e60cc94272" /><Relationship Type="http://schemas.openxmlformats.org/officeDocument/2006/relationships/notesMaster" Target="/ppt/notesMasters/notesMaster1.xml" Id="Rb22718f8601d4769" /><Relationship Type="http://schemas.openxmlformats.org/officeDocument/2006/relationships/presProps" Target="/ppt/presProps.xml" Id="R50e4839649324300" /><Relationship Type="http://schemas.openxmlformats.org/officeDocument/2006/relationships/tableStyles" Target="/ppt/tableStyles.xml" Id="Rb0162c59cdc54f90" /><Relationship Type="http://schemas.openxmlformats.org/officeDocument/2006/relationships/slide" Target="/ppt/slides/slide1.xml" Id="R344345ea51aa44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8fcbe45e094c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693d2745064433" /><Relationship Type="http://schemas.openxmlformats.org/officeDocument/2006/relationships/notesMaster" Target="/ppt/notesMasters/notesMaster1.xml" Id="R8d7bea8eeeca43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问技术路线图。视觉样式与第二问、第三问、第四问保持一致，但流程内容按第一问真实解题思路重构。来源：建模思路/题目分析报告.md第一问模型合同；建模思路/四问整体建模思路.md；代码/q1_solution.py；代码/results/q1/第一问结果审核.md。第一问把附件1中的电价、负荷和光伏发电预测视为已知输入，先校验144个十分钟时段并计算净负荷，再以Δt=1/6小时将功率换算为电量。模型决策为普通购电g、充电c、放电d、弃光w、145个储电量状态E以及充放电互斥二元变量z，目标是最小化全天普通购电费。约束包括供需能量平衡、储能递推、储能1200—10800kWh边界、充放电功率上限5000kW、充放电互斥、弃光不超过光伏可用电量，并加入E0=E144的日循环条件；共同初末储电量由模型优化，不固定为6000kWh。第一问不设置第二问的五倍紧急购电，也不售电。求解采用SciPy/HiGHS MILP，同时计算无储能基线和LP松弛下界；结果再独立核验逐时守恒、SOC边界、功率、互斥、闭环和费用，并回读Excel。当前结果审核报告记录费用35118.598589元、初末储电量8550kWh、MILP与LP下界差约1.46e-11元。图中只呈现方法链，不重跑求解；结束时标与效率口径以项目合同和结果审核报告为准。输出result1.xlsx、表1、表2和完整调度明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8a942a37cc4e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2552a50f8e471b" /><Relationship Type="http://schemas.openxmlformats.org/officeDocument/2006/relationships/slideLayout" Target="/ppt/slideLayouts/slideLayout1.xml" Id="Ra32d6d695ac64f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2d6d695ac64f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9e86f81b74f9e" /><Relationship Type="http://schemas.openxmlformats.org/officeDocument/2006/relationships/notesSlide" Target="/ppt/notesSlides/notesSlide1.xml" Id="R36bb67cf84e341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overall-method">
            <a:extLst xmlns:a="http://schemas.openxmlformats.org/drawingml/2006/main">
              <a:ext uri="{FF2B5EF4-FFF2-40B4-BE49-F238E27FC236}">
                <a16:creationId xmlns:a16="http://schemas.microsoft.com/office/drawing/2014/main" id="{05669F88-B015-4668-9AFE-5A9B769D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42925"/>
            <a:ext cx="12096750" cy="565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198B3"/>
            </a:solidFill>
            <a:prstDash val="dash"/>
          </a:ln>
        </p:spPr>
      </p:sp>
      <p:sp>
        <p:nvSpPr>
          <p:cNvPr id="2" name="stage-one">
            <a:extLst xmlns:a="http://schemas.openxmlformats.org/drawingml/2006/main">
              <a:ext uri="{FF2B5EF4-FFF2-40B4-BE49-F238E27FC236}">
                <a16:creationId xmlns:a16="http://schemas.microsoft.com/office/drawing/2014/main" id="{E2B5A934-D798-47A9-AE2E-2E50CD34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819150"/>
            <a:ext cx="3371850" cy="507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3" name="stage-two">
            <a:extLst xmlns:a="http://schemas.openxmlformats.org/drawingml/2006/main">
              <a:ext uri="{FF2B5EF4-FFF2-40B4-BE49-F238E27FC236}">
                <a16:creationId xmlns:a16="http://schemas.microsoft.com/office/drawing/2014/main" id="{429F228D-CA8C-4F29-AAC1-4CE915DB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819150"/>
            <a:ext cx="3857625" cy="507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4" name="stage-three">
            <a:extLst xmlns:a="http://schemas.openxmlformats.org/drawingml/2006/main">
              <a:ext uri="{FF2B5EF4-FFF2-40B4-BE49-F238E27FC236}">
                <a16:creationId xmlns:a16="http://schemas.microsoft.com/office/drawing/2014/main" id="{0A9950EB-3CC4-444E-AE72-369AAD1D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819150"/>
            <a:ext cx="3648075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5" name="stage-four">
            <a:extLst xmlns:a="http://schemas.openxmlformats.org/drawingml/2006/main">
              <a:ext uri="{FF2B5EF4-FFF2-40B4-BE49-F238E27FC236}">
                <a16:creationId xmlns:a16="http://schemas.microsoft.com/office/drawing/2014/main" id="{3A62E570-82D8-4795-8423-ABE536F4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05275"/>
            <a:ext cx="364807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6" name="stage-one-heading">
            <a:extLst xmlns:a="http://schemas.openxmlformats.org/drawingml/2006/main">
              <a:ext uri="{FF2B5EF4-FFF2-40B4-BE49-F238E27FC236}">
                <a16:creationId xmlns:a16="http://schemas.microsoft.com/office/drawing/2014/main" id="{BBFB3B3A-55E3-435D-ACF4-781172B7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942975"/>
            <a:ext cx="31718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阶段1  已知输入与离散</a:t>
            </a:r>
          </a:p>
        </p:txBody>
      </p:sp>
      <p:sp>
        <p:nvSpPr>
          <p:cNvPr id="7" name="stage-two-heading">
            <a:extLst xmlns:a="http://schemas.openxmlformats.org/drawingml/2006/main">
              <a:ext uri="{FF2B5EF4-FFF2-40B4-BE49-F238E27FC236}">
                <a16:creationId xmlns:a16="http://schemas.microsoft.com/office/drawing/2014/main" id="{F6352785-FA97-4E2E-83E9-0482A55B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942975"/>
            <a:ext cx="35909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阶段2  日循环确定性 MILP</a:t>
            </a:r>
          </a:p>
        </p:txBody>
      </p:sp>
      <p:sp>
        <p:nvSpPr>
          <p:cNvPr id="8" name="stage-three-heading">
            <a:extLst xmlns:a="http://schemas.openxmlformats.org/drawingml/2006/main">
              <a:ext uri="{FF2B5EF4-FFF2-40B4-BE49-F238E27FC236}">
                <a16:creationId xmlns:a16="http://schemas.microsoft.com/office/drawing/2014/main" id="{172B272E-39D5-48C8-895D-190C7AD3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942975"/>
            <a:ext cx="3429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阶段3  求解与基线对照</a:t>
            </a:r>
          </a:p>
        </p:txBody>
      </p:sp>
      <p:sp>
        <p:nvSpPr>
          <p:cNvPr id="9" name="stage-four-heading">
            <a:extLst xmlns:a="http://schemas.openxmlformats.org/drawingml/2006/main">
              <a:ext uri="{FF2B5EF4-FFF2-40B4-BE49-F238E27FC236}">
                <a16:creationId xmlns:a16="http://schemas.microsoft.com/office/drawing/2014/main" id="{00F54B6A-8A56-4CFD-BE89-4B836177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191000"/>
            <a:ext cx="3429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阶段4  物理核验与结果输出</a:t>
            </a:r>
          </a:p>
        </p:txBody>
      </p:sp>
      <p:sp>
        <p:nvSpPr>
          <p:cNvPr id="10" name="raw-input">
            <a:extLst xmlns:a="http://schemas.openxmlformats.org/drawingml/2006/main">
              <a:ext uri="{FF2B5EF4-FFF2-40B4-BE49-F238E27FC236}">
                <a16:creationId xmlns:a16="http://schemas.microsoft.com/office/drawing/2014/main" id="{5BBA595A-223F-495C-AA1E-7C7138F6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990600"/>
            <a:ext cx="1162050" cy="847725"/>
          </a:xfrm>
          <a:prstGeom xmlns:a="http://schemas.openxmlformats.org/drawingml/2006/main" prst="roundRect">
            <a:avLst>
              <a:gd name="adj" fmla="val 15730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附件1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已知输入</a:t>
            </a:r>
          </a:p>
        </p:txBody>
      </p:sp>
      <p:sp>
        <p:nvSpPr>
          <p:cNvPr id="11" name="historical-features">
            <a:extLst xmlns:a="http://schemas.openxmlformats.org/drawingml/2006/main">
              <a:ext uri="{FF2B5EF4-FFF2-40B4-BE49-F238E27FC236}">
                <a16:creationId xmlns:a16="http://schemas.microsoft.com/office/drawing/2014/main" id="{6F9F5F9D-6DC2-42AC-9B36-DAE1D664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095625"/>
            <a:ext cx="1162050" cy="847725"/>
          </a:xfrm>
          <a:prstGeom xmlns:a="http://schemas.openxmlformats.org/drawingml/2006/main" prst="roundRect">
            <a:avLst>
              <a:gd name="adj" fmla="val 15730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时间校验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与整理</a:t>
            </a:r>
          </a:p>
        </p:txBody>
      </p:sp>
      <p:cxnSp>
        <p:nvCxnSpPr>
          <p:cNvPr id="55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809625" y="1838325"/>
            <a:ext cx="0" cy="125730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tailEnd type="triangle" w="med" len="med"/>
          </a:ln>
        </p:spPr>
      </p:cxnSp>
      <p:sp>
        <p:nvSpPr>
          <p:cNvPr id="13" name="known-inputs">
            <a:extLst xmlns:a="http://schemas.openxmlformats.org/drawingml/2006/main">
              <a:ext uri="{FF2B5EF4-FFF2-40B4-BE49-F238E27FC236}">
                <a16:creationId xmlns:a16="http://schemas.microsoft.com/office/drawing/2014/main" id="{85FB8099-708D-454D-A224-54BAAF04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581150"/>
            <a:ext cx="3048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已知电价、负荷与光伏预测</a:t>
            </a:r>
          </a:p>
        </p:txBody>
      </p:sp>
      <p:sp>
        <p:nvSpPr>
          <p:cNvPr id="14" name="center-models">
            <a:extLst xmlns:a="http://schemas.openxmlformats.org/drawingml/2006/main">
              <a:ext uri="{FF2B5EF4-FFF2-40B4-BE49-F238E27FC236}">
                <a16:creationId xmlns:a16="http://schemas.microsoft.com/office/drawing/2014/main" id="{18C66CDB-5944-41D1-899C-E90CD14B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581275"/>
            <a:ext cx="3124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55C96"/>
            </a:solidFill>
            <a:prstDash val="dash"/>
          </a:ln>
        </p:spPr>
      </p:sp>
      <p:sp>
        <p:nvSpPr>
          <p:cNvPr id="15" name="net-load">
            <a:extLst xmlns:a="http://schemas.openxmlformats.org/drawingml/2006/main">
              <a:ext uri="{FF2B5EF4-FFF2-40B4-BE49-F238E27FC236}">
                <a16:creationId xmlns:a16="http://schemas.microsoft.com/office/drawing/2014/main" id="{AC08B5AD-1DDB-4259-9867-204C57F5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24150"/>
            <a:ext cx="13811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净负荷</a:t>
            </a:r>
          </a:p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L − V（kW）</a:t>
            </a:r>
          </a:p>
        </p:txBody>
      </p:sp>
      <p:sp>
        <p:nvSpPr>
          <p:cNvPr id="16" name="time-grid">
            <a:extLst xmlns:a="http://schemas.openxmlformats.org/drawingml/2006/main">
              <a:ext uri="{FF2B5EF4-FFF2-40B4-BE49-F238E27FC236}">
                <a16:creationId xmlns:a16="http://schemas.microsoft.com/office/drawing/2014/main" id="{ECA2ECA8-2577-4BBD-8C95-B6C8E00E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724150"/>
            <a:ext cx="13620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时间离散</a:t>
            </a:r>
          </a:p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144×10 min</a:t>
            </a:r>
          </a:p>
        </p:txBody>
      </p:sp>
      <p:sp>
        <p:nvSpPr>
          <p:cNvPr id="17" name="energy-conversion">
            <a:extLst xmlns:a="http://schemas.openxmlformats.org/drawingml/2006/main">
              <a:ext uri="{FF2B5EF4-FFF2-40B4-BE49-F238E27FC236}">
                <a16:creationId xmlns:a16="http://schemas.microsoft.com/office/drawing/2014/main" id="{914E11DF-30B6-4673-9540-7E42D410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62425"/>
            <a:ext cx="3048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功率转电量</a:t>
            </a:r>
          </a:p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Δt = 1/6 h，变量统一按 kWh</a:t>
            </a:r>
          </a:p>
        </p:txBody>
      </p:sp>
      <p:sp>
        <p:nvSpPr>
          <p:cNvPr id="18" name="decision-grid">
            <a:extLst xmlns:a="http://schemas.openxmlformats.org/drawingml/2006/main">
              <a:ext uri="{FF2B5EF4-FFF2-40B4-BE49-F238E27FC236}">
                <a16:creationId xmlns:a16="http://schemas.microsoft.com/office/drawing/2014/main" id="{B9D78B2B-A354-4FD1-AFD1-66C395F2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48275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144个决策时段</a:t>
            </a:r>
          </a:p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145个SOC状态点</a:t>
            </a:r>
          </a:p>
        </p:txBody>
      </p:sp>
      <p:cxnSp>
        <p:nvCxnSpPr>
          <p:cNvPr id="62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1390650" y="1881188"/>
            <a:ext cx="704850" cy="1638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003">
            <a:solidFill>
              <a:srgbClr val="111111"/>
            </a:solidFill>
            <a:tailEnd type="triangle" w="med" len="med"/>
          </a:ln>
        </p:spPr>
      </p:cxnSp>
      <p:cxnSp>
        <p:nvCxnSpPr>
          <p:cNvPr id="63" name=""/>
          <p:cNvCxnSpPr>
            <a:stCxn xmlns:a="http://schemas.openxmlformats.org/drawingml/2006/main" id="13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2862263" y="2181225"/>
            <a:ext cx="757238" cy="5429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64" name=""/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3619500" y="2181225"/>
            <a:ext cx="766763" cy="5429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65" name=""/>
          <p:cNvCxnSpPr>
            <a:stCxn xmlns:a="http://schemas.openxmlformats.org/drawingml/2006/main" id="15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2862263" y="3457575"/>
            <a:ext cx="757238" cy="704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66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3619500" y="3457575"/>
            <a:ext cx="766763" cy="704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67" name=""/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3619500" y="4876800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25" name="milp-objective-vars">
            <a:extLst xmlns:a="http://schemas.openxmlformats.org/drawingml/2006/main">
              <a:ext uri="{FF2B5EF4-FFF2-40B4-BE49-F238E27FC236}">
                <a16:creationId xmlns:a16="http://schemas.microsoft.com/office/drawing/2014/main" id="{816BA3DF-70A6-48AE-A00A-53168B8A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657350"/>
            <a:ext cx="16383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目标与决策变量</a:t>
            </a:r>
          </a:p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min Σ pₜgₜ</a:t>
            </a:r>
          </a:p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购电 g、充放电 c/d</a:t>
            </a:r>
          </a:p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储电量 E、弃光 w</a:t>
            </a:r>
          </a:p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互斥变量 z</a:t>
            </a:r>
          </a:p>
        </p:txBody>
      </p:sp>
      <p:sp>
        <p:nvSpPr>
          <p:cNvPr id="26" name="physical-constraints">
            <a:extLst xmlns:a="http://schemas.openxmlformats.org/drawingml/2006/main">
              <a:ext uri="{FF2B5EF4-FFF2-40B4-BE49-F238E27FC236}">
                <a16:creationId xmlns:a16="http://schemas.microsoft.com/office/drawing/2014/main" id="{6AFA86C2-E718-42E2-9D29-72231EF5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657350"/>
            <a:ext cx="1619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供需平衡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储能递推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SOC与功率边界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充放电互斥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弃光不超光伏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不设紧急购电</a:t>
            </a:r>
          </a:p>
        </p:txBody>
      </p:sp>
      <p:sp>
        <p:nvSpPr>
          <p:cNvPr id="27" name="cyclic-milp">
            <a:extLst xmlns:a="http://schemas.openxmlformats.org/drawingml/2006/main">
              <a:ext uri="{FF2B5EF4-FFF2-40B4-BE49-F238E27FC236}">
                <a16:creationId xmlns:a16="http://schemas.microsoft.com/office/drawing/2014/main" id="{A3A99265-2141-42B1-AE19-2D3699B6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33875"/>
            <a:ext cx="35147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构建日循环 MILP</a:t>
            </a:r>
          </a:p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E₀ = E₁₄₄</a:t>
            </a:r>
          </a:p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共同初末库存由优化决定</a:t>
            </a:r>
          </a:p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不售电，允许弃光</a:t>
            </a:r>
          </a:p>
        </p:txBody>
      </p:sp>
      <p:cxnSp>
        <p:nvCxnSpPr>
          <p:cNvPr id="71" name=""/>
          <p:cNvCxnSpPr>
            <a:stCxn xmlns:a="http://schemas.openxmlformats.org/drawingml/2006/main" id="25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6638925" y="3257550"/>
            <a:ext cx="947738" cy="1076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72" name=""/>
          <p:cNvCxnSpPr>
            <a:stCxn xmlns:a="http://schemas.openxmlformats.org/drawingml/2006/main" id="2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 flipH="1">
            <a:off x="7586663" y="3257550"/>
            <a:ext cx="947738" cy="1076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73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5305425" y="3357563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31" name="milp-solver">
            <a:extLst xmlns:a="http://schemas.openxmlformats.org/drawingml/2006/main">
              <a:ext uri="{FF2B5EF4-FFF2-40B4-BE49-F238E27FC236}">
                <a16:creationId xmlns:a16="http://schemas.microsoft.com/office/drawing/2014/main" id="{E1D875A0-8F4A-49C3-92F9-2B96D829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514475"/>
            <a:ext cx="33623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SciPy / HiGHS 求解主 MILP</a:t>
            </a:r>
          </a:p>
        </p:txBody>
      </p:sp>
      <p:sp>
        <p:nvSpPr>
          <p:cNvPr id="32" name="optimal-schedule">
            <a:extLst xmlns:a="http://schemas.openxmlformats.org/drawingml/2006/main">
              <a:ext uri="{FF2B5EF4-FFF2-40B4-BE49-F238E27FC236}">
                <a16:creationId xmlns:a16="http://schemas.microsoft.com/office/drawing/2014/main" id="{75C23A40-05F6-4CF2-860D-7055E906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19375"/>
            <a:ext cx="16097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最优调度轨迹</a:t>
            </a:r>
          </a:p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购电、充放电</a:t>
            </a:r>
          </a:p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弃光与SOC</a:t>
            </a:r>
          </a:p>
        </p:txBody>
      </p:sp>
      <p:sp>
        <p:nvSpPr>
          <p:cNvPr id="33" name="baselines">
            <a:extLst xmlns:a="http://schemas.openxmlformats.org/drawingml/2006/main">
              <a:ext uri="{FF2B5EF4-FFF2-40B4-BE49-F238E27FC236}">
                <a16:creationId xmlns:a16="http://schemas.microsoft.com/office/drawing/2014/main" id="{8D660FAE-8199-4A1D-AB4A-26426EC2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2619375"/>
            <a:ext cx="1581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无储能基线</a:t>
            </a:r>
          </a:p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LP松弛下界</a:t>
            </a:r>
          </a:p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费用差值</a:t>
            </a:r>
          </a:p>
        </p:txBody>
      </p:sp>
      <p:cxnSp>
        <p:nvCxnSpPr>
          <p:cNvPr id="77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 flipH="1">
            <a:off x="10806113" y="2066925"/>
            <a:ext cx="876300" cy="552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31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11682413" y="2066925"/>
            <a:ext cx="890588" cy="552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79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9515475" y="2257425"/>
            <a:ext cx="342900" cy="11001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37" name="physical-checks">
            <a:extLst xmlns:a="http://schemas.openxmlformats.org/drawingml/2006/main">
              <a:ext uri="{FF2B5EF4-FFF2-40B4-BE49-F238E27FC236}">
                <a16:creationId xmlns:a16="http://schemas.microsoft.com/office/drawing/2014/main" id="{54EEFD6C-43CE-4FAC-B1B5-2C358173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819650"/>
            <a:ext cx="16097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逐时物理核验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守恒、SOC边界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功率上限与互斥</a:t>
            </a:r>
          </a:p>
        </p:txBody>
      </p:sp>
      <p:sp>
        <p:nvSpPr>
          <p:cNvPr id="38" name="export-checks">
            <a:extLst xmlns:a="http://schemas.openxmlformats.org/drawingml/2006/main">
              <a:ext uri="{FF2B5EF4-FFF2-40B4-BE49-F238E27FC236}">
                <a16:creationId xmlns:a16="http://schemas.microsoft.com/office/drawing/2014/main" id="{C3CA7F95-83F2-45D4-B23E-282CA7B3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4819650"/>
            <a:ext cx="1581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费用独立复算</a:t>
            </a:r>
          </a:p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144行回读</a:t>
            </a:r>
          </a:p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表1、表2输出</a:t>
            </a:r>
          </a:p>
        </p:txBody>
      </p:sp>
      <p:cxnSp>
        <p:nvCxnSpPr>
          <p:cNvPr id="82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11682413" y="3695700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cxnSp>
        <p:nvCxnSpPr>
          <p:cNvPr id="83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11610975" y="52292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41" name="results">
            <a:extLst xmlns:a="http://schemas.openxmlformats.org/drawingml/2006/main">
              <a:ext uri="{FF2B5EF4-FFF2-40B4-BE49-F238E27FC236}">
                <a16:creationId xmlns:a16="http://schemas.microsoft.com/office/drawing/2014/main" id="{14E65095-A5F4-4F38-93DB-F167D091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2181225"/>
            <a:ext cx="1009650" cy="21907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result1.xlsx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表1、表2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调度轨迹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购电费用</a:t>
            </a:r>
          </a:p>
        </p:txBody>
      </p:sp>
      <p:cxnSp>
        <p:nvCxnSpPr>
          <p:cNvPr id="85" name=""/>
          <p:cNvCxnSpPr>
            <a:stCxn xmlns:a="http://schemas.openxmlformats.org/drawingml/2006/main" id="38" idx="3"/>
            <a:endCxn xmlns:a="http://schemas.openxmlformats.org/drawingml/2006/main" id="41" idx="2"/>
          </p:cNvCxnSpPr>
          <p:nvPr/>
        </p:nvCxnSpPr>
        <p:spPr>
          <a:xfrm xmlns:a="http://schemas.openxmlformats.org/drawingml/2006/main" flipV="1">
            <a:off x="13363575" y="4371975"/>
            <a:ext cx="1143000" cy="857250"/>
          </a:xfrm>
          <a:prstGeom xmlns:a="http://schemas.openxmlformats.org/drawingml/2006/main" prst="bentConnector2">
            <a:avLst/>
          </a:prstGeom>
          <a:ln xmlns:a="http://schemas.openxmlformats.org/drawingml/2006/main" w="20003">
            <a:solidFill>
              <a:srgbClr val="111111"/>
            </a:solidFill>
            <a:tailEnd type="triangle" w="med" len="med"/>
          </a:ln>
        </p:spPr>
      </p:cxnSp>
      <p:sp>
        <p:nvSpPr>
          <p:cNvPr id="43" name="bottom-note">
            <a:extLst xmlns:a="http://schemas.openxmlformats.org/drawingml/2006/main">
              <a:ext uri="{FF2B5EF4-FFF2-40B4-BE49-F238E27FC236}">
                <a16:creationId xmlns:a16="http://schemas.microsoft.com/office/drawing/2014/main" id="{291C0D51-FC71-46EF-9BAC-BEB2B89E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315075"/>
            <a:ext cx="11782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333333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333333"/>
                </a:solidFill>
                <a:latin typeface="SimSun"/>
                <a:ea typeface="SimSun"/>
                <a:cs typeface="SimSun"/>
              </a:rPr>
              <a:t>已知预测条件下的日循环MILP；E₀=E₁₄₄且共同值由优化；储能1200–10800 kWh；不设紧急购电与售电</a:t>
            </a:r>
          </a:p>
        </p:txBody>
      </p:sp>
    </p:spTree>
    <p:extLst>
      <p:ext uri="{BB962C8B-B14F-4D97-AF65-F5344CB8AC3E}">
        <p14:creationId xmlns:p14="http://schemas.microsoft.com/office/powerpoint/2010/main" val="2539636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2026-09-12T11:42:54.3600000Z</dcterms:created>
  <dcterms:modified xsi:type="dcterms:W3CDTF">2026-09-12T11:42:54.3600000Z</dcterms:modified>
</coreProperties>
</file>