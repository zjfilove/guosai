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f3f06d265416d" /><Relationship Type="http://schemas.openxmlformats.org/officeDocument/2006/relationships/extended-properties" Target="/docProps/app.xml" Id="R6252ef5c6e704d0d" /><Relationship Type="http://schemas.openxmlformats.org/officeDocument/2006/relationships/officeDocument" Target="/ppt/presentation.xml" Id="Re214526b6535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477c271a841e7"/>
  </p:sldMasterIdLst>
  <p:notesMasterIdLst>
    <p:notesMasterId xmlns:r="http://schemas.openxmlformats.org/officeDocument/2006/relationships" r:id="R8a066d1bf92045f1"/>
  </p:notesMasterIdLst>
  <p:sldIdLst>
    <p:sldId xmlns:r="http://schemas.openxmlformats.org/officeDocument/2006/relationships" id="256" r:id="Rb1d3f32d9c8d4add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1eef66892429b" /><Relationship Type="http://schemas.openxmlformats.org/officeDocument/2006/relationships/slideMaster" Target="/ppt/slideMasters/slideMaster1.xml" Id="Rb99477c271a841e7" /><Relationship Type="http://schemas.openxmlformats.org/officeDocument/2006/relationships/notesMaster" Target="/ppt/notesMasters/notesMaster1.xml" Id="R8a066d1bf92045f1" /><Relationship Type="http://schemas.openxmlformats.org/officeDocument/2006/relationships/presProps" Target="/ppt/presProps.xml" Id="R91e26a27934d400b" /><Relationship Type="http://schemas.openxmlformats.org/officeDocument/2006/relationships/tableStyles" Target="/ppt/tableStyles.xml" Id="R902c1d0801524daa" /><Relationship Type="http://schemas.openxmlformats.org/officeDocument/2006/relationships/slide" Target="/ppt/slides/slide1.xml" Id="Rb1d3f32d9c8d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761c614a1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1a157c04904971" /><Relationship Type="http://schemas.openxmlformats.org/officeDocument/2006/relationships/notesMaster" Target="/ppt/notesMasters/notesMaster1.xml" Id="Raff06dbfd04244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第一问技术路线图重构版。保留第一至第四问统一的白底、蓝色标题、灰色虚线分区、黑色节点框和箭头线宽，但按第一问真实求解链路重新组织为左向右流程。</a:t>
            </a:r>
          </a:p>
          <a:p xmlns:a="http://schemas.openxmlformats.org/drawingml/2006/main">
            <a:r>
              <a:t>来源：C:/Users/sss/Desktop/国赛/建模思路/题目分析报告.md；C:/Users/sss/Desktop/国赛/建模思路/四问整体建模思路.md；C:/Users/sss/Desktop/国赛/代码/q1_solution.py；C:/Users/sss/Desktop/国赛/代码/results/q1/第一问结果审核.md。</a:t>
            </a:r>
          </a:p>
          <a:p xmlns:a="http://schemas.openxmlformats.org/drawingml/2006/main">
            <a:r>
              <a:t>模型输入为附件1中的电价、负荷和光伏预测，144个十分钟区间，Δt=1/6小时。决策变量为普通购电g、充电c、放电d、弃光w、储电量E和充放电互斥二元变量z。目标为最小化全天普通购电费用。</a:t>
            </a:r>
          </a:p>
          <a:p xmlns:a="http://schemas.openxmlformats.org/drawingml/2006/main">
            <a:r>
              <a:t>模型包含供需能量平衡、SOC递推、储能1200—10800kWh边界、5000kW充放电功率上限、充放电互斥、弃光不超过光伏可用量和E0=E144日循环约束。共同初末库存由模型优化，不固定为6000kWh；第一问不设紧急购电和售电。</a:t>
            </a:r>
          </a:p>
          <a:p xmlns:a="http://schemas.openxmlformats.org/drawingml/2006/main">
            <a:r>
              <a:t>求解采用SciPy/HiGHS MILP，并计算无储能基线与LP松弛下界。结果审核报告记录购电费用35118.598589元、初末储电量8550kWh、MILP与LP下界差约1.46e-11元。图中公式框采用PowerPoint原生OMML，Fallback仅用于旧版兼容显示。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b9d6cbb0f44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5bc15ef545450d" /><Relationship Type="http://schemas.openxmlformats.org/officeDocument/2006/relationships/slideLayout" Target="/ppt/slideLayouts/slideLayout1.xml" Id="Re4b4664e8bf849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4664e8bf849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03829886449b3" /><Relationship Type="http://schemas.openxmlformats.org/officeDocument/2006/relationships/notesSlide" Target="/ppt/notesSlides/notesSlide1.xml" Id="R1c08a20fa6304f78" /></Relationships>
</file>

<file path=ppt/slides/slide1.xml><?xml version="1.0" encoding="utf-8"?>
<p:sld xmlns:p="http://schemas.openxmlformats.org/presentationml/2006/main" xmlns:mc="http://schemas.openxmlformats.org/markup-compatibility/2006" xmlns:a14="http://schemas.microsoft.com/office/drawing/2010/main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9FC2AAC6-3112-4521-9789-2DF38041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"/>
            <a:ext cx="1209675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input">
            <a:extLst xmlns:a="http://schemas.openxmlformats.org/drawingml/2006/main">
              <a:ext uri="{FF2B5EF4-FFF2-40B4-BE49-F238E27FC236}">
                <a16:creationId xmlns:a16="http://schemas.microsoft.com/office/drawing/2014/main" id="{E2E56A84-45AC-4B8F-847F-BB61C0D3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42950"/>
            <a:ext cx="257175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model">
            <a:extLst xmlns:a="http://schemas.openxmlformats.org/drawingml/2006/main">
              <a:ext uri="{FF2B5EF4-FFF2-40B4-BE49-F238E27FC236}">
                <a16:creationId xmlns:a16="http://schemas.microsoft.com/office/drawing/2014/main" id="{D643B73C-0247-4A70-BC84-07701DA6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42950"/>
            <a:ext cx="4238625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solve">
            <a:extLst xmlns:a="http://schemas.openxmlformats.org/drawingml/2006/main">
              <a:ext uri="{FF2B5EF4-FFF2-40B4-BE49-F238E27FC236}">
                <a16:creationId xmlns:a16="http://schemas.microsoft.com/office/drawing/2014/main" id="{9C5F0283-333C-49C8-8B4B-735FDED7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2950"/>
            <a:ext cx="20955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verify">
            <a:extLst xmlns:a="http://schemas.openxmlformats.org/drawingml/2006/main">
              <a:ext uri="{FF2B5EF4-FFF2-40B4-BE49-F238E27FC236}">
                <a16:creationId xmlns:a16="http://schemas.microsoft.com/office/drawing/2014/main" id="{F72CEDC2-7215-4251-A9AE-1DE54FBC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42950"/>
            <a:ext cx="2286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cxnSp>
        <p:nvCxnSpPr>
          <p:cNvPr id="74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381500" y="3314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858250" y="3314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1191875" y="3314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" name="stage-input-heading">
            <a:extLst xmlns:a="http://schemas.openxmlformats.org/drawingml/2006/main">
              <a:ext uri="{FF2B5EF4-FFF2-40B4-BE49-F238E27FC236}">
                <a16:creationId xmlns:a16="http://schemas.microsoft.com/office/drawing/2014/main" id="{C3AEFC54-95C9-4B47-89D1-EB5EF30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876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数据输入与离散</a:t>
            </a:r>
          </a:p>
        </p:txBody>
      </p:sp>
      <p:sp>
        <p:nvSpPr>
          <p:cNvPr id="10" name="stage-model-heading">
            <a:extLst xmlns:a="http://schemas.openxmlformats.org/drawingml/2006/main">
              <a:ext uri="{FF2B5EF4-FFF2-40B4-BE49-F238E27FC236}">
                <a16:creationId xmlns:a16="http://schemas.microsoft.com/office/drawing/2014/main" id="{933D99AB-1764-450A-95BA-B97EE08D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87630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日循环确定性 MILP</a:t>
            </a:r>
          </a:p>
        </p:txBody>
      </p:sp>
      <p:sp>
        <p:nvSpPr>
          <p:cNvPr id="11" name="stage-solve-heading">
            <a:extLst xmlns:a="http://schemas.openxmlformats.org/drawingml/2006/main">
              <a:ext uri="{FF2B5EF4-FFF2-40B4-BE49-F238E27FC236}">
                <a16:creationId xmlns:a16="http://schemas.microsoft.com/office/drawing/2014/main" id="{27F61CA4-A981-4616-9F89-C8CA89A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8763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求解与对照</a:t>
            </a:r>
          </a:p>
        </p:txBody>
      </p:sp>
      <p:sp>
        <p:nvSpPr>
          <p:cNvPr id="12" name="stage-verify-heading">
            <a:extLst xmlns:a="http://schemas.openxmlformats.org/drawingml/2006/main">
              <a:ext uri="{FF2B5EF4-FFF2-40B4-BE49-F238E27FC236}">
                <a16:creationId xmlns:a16="http://schemas.microsoft.com/office/drawing/2014/main" id="{7E22F39D-11BB-45DD-8347-9AD2B9A1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763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核验与输出</a:t>
            </a:r>
          </a:p>
        </p:txBody>
      </p:sp>
      <p:sp>
        <p:nvSpPr>
          <p:cNvPr id="13" name="external-input">
            <a:extLst xmlns:a="http://schemas.openxmlformats.org/drawingml/2006/main">
              <a:ext uri="{FF2B5EF4-FFF2-40B4-BE49-F238E27FC236}">
                <a16:creationId xmlns:a16="http://schemas.microsoft.com/office/drawing/2014/main" id="{330BA565-0FB1-494E-A917-8A20F166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19350"/>
            <a:ext cx="11430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原始数据</a:t>
            </a:r>
          </a:p>
        </p:txBody>
      </p:sp>
      <p:sp>
        <p:nvSpPr>
          <p:cNvPr id="14" name="external-output">
            <a:extLst xmlns:a="http://schemas.openxmlformats.org/drawingml/2006/main">
              <a:ext uri="{FF2B5EF4-FFF2-40B4-BE49-F238E27FC236}">
                <a16:creationId xmlns:a16="http://schemas.microsoft.com/office/drawing/2014/main" id="{D243555A-61E1-4349-87BD-3B60372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209800"/>
            <a:ext cx="1000125" cy="21526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调度轨迹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</a:t>
            </a:r>
          </a:p>
        </p:txBody>
      </p: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3716000" y="3286125"/>
            <a:ext cx="2857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6" name="raw-input">
            <a:extLst xmlns:a="http://schemas.openxmlformats.org/drawingml/2006/main">
              <a:ext uri="{FF2B5EF4-FFF2-40B4-BE49-F238E27FC236}">
                <a16:creationId xmlns:a16="http://schemas.microsoft.com/office/drawing/2014/main" id="{32B008A2-E76A-41BA-8101-CF806E8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8112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电价、负荷与光伏预测</a:t>
            </a:r>
          </a:p>
        </p:txBody>
      </p:sp>
      <p:sp>
        <p:nvSpPr>
          <p:cNvPr id="17" name="known-label">
            <a:extLst xmlns:a="http://schemas.openxmlformats.org/drawingml/2006/main">
              <a:ext uri="{FF2B5EF4-FFF2-40B4-BE49-F238E27FC236}">
                <a16:creationId xmlns:a16="http://schemas.microsoft.com/office/drawing/2014/main" id="{D0684D0F-7F8C-4405-9EEC-7DF5653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383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已知输入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-known-vars">
                <a:extLst xmlns:a="http://schemas.openxmlformats.org/drawingml/2006/main">
                  <a:ext uri="{FF2B5EF4-FFF2-40B4-BE49-F238E27FC236}">
                    <a16:creationId xmlns:a16="http://schemas.microsoft.com/office/drawing/2014/main" id="{7FCAABAD-A5A2-4E5C-A7AA-DE5F74A664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2257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m:t xml:space="preserve">p</m:t>
                          </m:r>
                        </m:e>
                        <m:sub>
                          <m:r>
                            <m:t xml:space="preserve">t</m:t>
                          </m:r>
                        </m:sub>
                      </m:sSub>
                      <m:r>
                        <m:t xml:space="preserve">, </m:t>
                      </m:r>
                      <m:sSub>
                        <m:e>
                          <m:r>
                            <m:t xml:space="preserve">L</m:t>
                          </m:r>
                        </m:e>
                        <m:sub>
                          <m:r>
                            <m:t xml:space="preserve">t</m:t>
                          </m:r>
                        </m:sub>
                      </m:sSub>
                      <m:r>
                        <m:t xml:space="preserve">, </m:t>
                      </m:r>
                      <m:sSub>
                        <m:e>
                          <m:r>
                            <m:t xml:space="preserve">V</m:t>
                          </m:r>
                        </m:e>
                        <m:sub>
                          <m:r>
                            <m:t xml:space="preserve">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eq-known-vars">
                <a:extLst xmlns:a="http://schemas.openxmlformats.org/drawingml/2006/main">
                  <a:ext uri="{FF2B5EF4-FFF2-40B4-BE49-F238E27FC236}">
                    <a16:creationId xmlns:a16="http://schemas.microsoft.com/office/drawing/2014/main" id="{7FCAABAD-A5A2-4E5C-A7AA-DE5F74A664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2257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425">
                    <a:solidFill>
                      <a:srgbClr val="111111"/>
                    </a:solidFill>
                    <a:latin typeface="Cambria Math"/>
                  </a:rPr>
                  <a:t>p_t, L_t, V_t</a:t>
                </a:r>
                <a:endParaRPr lang="en-US"/>
              </a:p>
            </p:txBody>
          </p:sp>
        </mc:Fallback>
      </mc:AlternateContent>
      <p:sp>
        <p:nvSpPr>
          <p:cNvPr id="19" name="timestep-label">
            <a:extLst xmlns:a="http://schemas.openxmlformats.org/drawingml/2006/main">
              <a:ext uri="{FF2B5EF4-FFF2-40B4-BE49-F238E27FC236}">
                <a16:creationId xmlns:a16="http://schemas.microsoft.com/office/drawing/2014/main" id="{47041633-5868-4765-96AF-ECED78A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003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十分钟离散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-timestep">
                <a:extLst xmlns:a="http://schemas.openxmlformats.org/drawingml/2006/main">
                  <a:ext uri="{FF2B5EF4-FFF2-40B4-BE49-F238E27FC236}">
                    <a16:creationId xmlns:a16="http://schemas.microsoft.com/office/drawing/2014/main" id="{F6466335-9419-4471-BC21-0062FC0E49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019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t>Δ</m:t>
                      </m:r>
                      <m:r>
                        <m:t>t</m:t>
                      </m:r>
                      <m:r>
                        <m:t>=</m:t>
                      </m:r>
                      <m:f>
                        <m:num>
                          <m:r>
                            <m:t>1</m:t>
                          </m:r>
                        </m:num>
                        <m:den>
                          <m:r>
                            <m:t>6</m:t>
                          </m:r>
                        </m:den>
                      </m:f>
                      <m:r>
                        <m:t> 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eq-timestep">
                <a:extLst xmlns:a="http://schemas.openxmlformats.org/drawingml/2006/main">
                  <a:ext uri="{FF2B5EF4-FFF2-40B4-BE49-F238E27FC236}">
                    <a16:creationId xmlns:a16="http://schemas.microsoft.com/office/drawing/2014/main" id="{F6466335-9419-4471-BC21-0062FC0E49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019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425">
                    <a:solidFill>
                      <a:srgbClr val="111111"/>
                    </a:solidFill>
                    <a:latin typeface="Cambria Math"/>
                  </a:rPr>
                  <a:t>Δt = 1/6 h</a:t>
                </a:r>
                <a:endParaRPr lang="en-US"/>
              </a:p>
            </p:txBody>
          </p:sp>
        </mc:Fallback>
      </mc:AlternateContent>
      <p:sp>
        <p:nvSpPr>
          <p:cNvPr id="21" name="netload-label">
            <a:extLst xmlns:a="http://schemas.openxmlformats.org/drawingml/2006/main">
              <a:ext uri="{FF2B5EF4-FFF2-40B4-BE49-F238E27FC236}">
                <a16:creationId xmlns:a16="http://schemas.microsoft.com/office/drawing/2014/main" id="{F2FE52A0-7FC1-41CA-B2DA-C102944B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7187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净负荷能量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-netload">
                <a:extLst xmlns:a="http://schemas.openxmlformats.org/drawingml/2006/main">
                  <a:ext uri="{FF2B5EF4-FFF2-40B4-BE49-F238E27FC236}">
                    <a16:creationId xmlns:a16="http://schemas.microsoft.com/office/drawing/2014/main" id="{EF90B5AC-E0AA-4110-937E-01A8C2BF1D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790950"/>
                <a:ext cx="222885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m:t>N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=</m:t>
                      </m:r>
                      <m:r>
                        <m:t>(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−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)Δ</m:t>
                      </m:r>
                      <m:r>
                        <m:t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eq-netload">
                <a:extLst xmlns:a="http://schemas.openxmlformats.org/drawingml/2006/main">
                  <a:ext uri="{FF2B5EF4-FFF2-40B4-BE49-F238E27FC236}">
                    <a16:creationId xmlns:a16="http://schemas.microsoft.com/office/drawing/2014/main" id="{EF90B5AC-E0AA-4110-937E-01A8C2BF1D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790950"/>
                <a:ext cx="222885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275">
                    <a:solidFill>
                      <a:srgbClr val="111111"/>
                    </a:solidFill>
                    <a:latin typeface="Cambria Math"/>
                  </a:rPr>
                  <a:t>N_t = (L_t − V_t)Δt</a:t>
                </a:r>
                <a:endParaRPr lang="en-US"/>
              </a:p>
            </p:txBody>
          </p:sp>
        </mc:Fallback>
      </mc:AlternateContent>
      <p:sp>
        <p:nvSpPr>
          <p:cNvPr id="23" name="decision-grid">
            <a:extLst xmlns:a="http://schemas.openxmlformats.org/drawingml/2006/main">
              <a:ext uri="{FF2B5EF4-FFF2-40B4-BE49-F238E27FC236}">
                <a16:creationId xmlns:a16="http://schemas.microsoft.com/office/drawing/2014/main" id="{E00D53CE-FE28-4A28-B04D-D3D5B2E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10125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144个决策时段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145个SOC状态点</a:t>
            </a:r>
          </a:p>
        </p:txBody>
      </p:sp>
      <p:cxnSp>
        <p:nvCxnSpPr>
          <p:cNvPr id="9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1381125" y="1647825"/>
            <a:ext cx="619125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93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095625" y="191452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94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095625" y="26860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95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0956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095625" y="424815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9" name="objective-label">
            <a:extLst xmlns:a="http://schemas.openxmlformats.org/drawingml/2006/main">
              <a:ext uri="{FF2B5EF4-FFF2-40B4-BE49-F238E27FC236}">
                <a16:creationId xmlns:a16="http://schemas.microsoft.com/office/drawing/2014/main" id="{C4313E54-E345-4518-972F-426805FA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04925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购电费用目标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eq-objective">
                <a:extLst xmlns:a="http://schemas.openxmlformats.org/drawingml/2006/main">
                  <a:ext uri="{FF2B5EF4-FFF2-40B4-BE49-F238E27FC236}">
                    <a16:creationId xmlns:a16="http://schemas.microsoft.com/office/drawing/2014/main" id="{12560DE6-5E41-4729-9734-B3C6529AE8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0" y="1533525"/>
                <a:ext cx="3562350" cy="4953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5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t>min</m:t>
                      </m:r>
                      <m:r>
                        <m:t> </m:t>
                      </m:r>
                      <m:nary>
                        <m:naryPr>
                          <m:chr m:val="∑"/>
                          <m:limLoc m:val="undOvr"/>
                        </m:naryPr>
                        <m:sub>
                          <m:r>
                            <m:t>t=0</m:t>
                          </m:r>
                        </m:sub>
                        <m:sup>
                          <m:r>
                            <m:t>143</m:t>
                          </m:r>
                        </m:sup>
                        <m:e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eq-objective">
                <a:extLst xmlns:a="http://schemas.openxmlformats.org/drawingml/2006/main">
                  <a:ext uri="{FF2B5EF4-FFF2-40B4-BE49-F238E27FC236}">
                    <a16:creationId xmlns:a16="http://schemas.microsoft.com/office/drawing/2014/main" id="{12560DE6-5E41-4729-9734-B3C6529AE8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0" y="1533525"/>
                <a:ext cx="3562350" cy="4953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5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500">
                    <a:solidFill>
                      <a:srgbClr val="111111"/>
                    </a:solidFill>
                    <a:latin typeface="Cambria Math"/>
                  </a:rPr>
                  <a:t>min Σ p_t g_t</a:t>
                </a:r>
                <a:endParaRPr lang="en-US"/>
              </a:p>
            </p:txBody>
          </p:sp>
        </mc:Fallback>
      </mc:AlternateContent>
      <p:sp>
        <p:nvSpPr>
          <p:cNvPr id="31" name="constraints-frame">
            <a:extLst xmlns:a="http://schemas.openxmlformats.org/drawingml/2006/main">
              <a:ext uri="{FF2B5EF4-FFF2-40B4-BE49-F238E27FC236}">
                <a16:creationId xmlns:a16="http://schemas.microsoft.com/office/drawing/2014/main" id="{061647AF-F652-445A-9EA6-EF17AA0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81225"/>
            <a:ext cx="385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32" name="balance-label">
            <a:extLst xmlns:a="http://schemas.openxmlformats.org/drawingml/2006/main">
              <a:ext uri="{FF2B5EF4-FFF2-40B4-BE49-F238E27FC236}">
                <a16:creationId xmlns:a16="http://schemas.microsoft.com/office/drawing/2014/main" id="{47A16C60-95FE-48CF-8B48-A784D4DA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7647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能量守恒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eq-balance">
                <a:extLst xmlns:a="http://schemas.openxmlformats.org/drawingml/2006/main">
                  <a:ext uri="{FF2B5EF4-FFF2-40B4-BE49-F238E27FC236}">
                    <a16:creationId xmlns:a16="http://schemas.microsoft.com/office/drawing/2014/main" id="{DF5BB244-63ED-47B7-BFC5-65015F104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24765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Δ</m:t>
                      </m:r>
                      <m:r>
                        <m:t>t</m:t>
                      </m:r>
                      <m:r>
                        <m:t>+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Δ</m:t>
                      </m:r>
                      <m:r>
                        <m:t>t</m:t>
                      </m:r>
                      <m:r>
                        <m:t>+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eq-balance">
                <a:extLst xmlns:a="http://schemas.openxmlformats.org/drawingml/2006/main">
                  <a:ext uri="{FF2B5EF4-FFF2-40B4-BE49-F238E27FC236}">
                    <a16:creationId xmlns:a16="http://schemas.microsoft.com/office/drawing/2014/main" id="{DF5BB244-63ED-47B7-BFC5-65015F104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24765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125">
                    <a:solidFill>
                      <a:srgbClr val="111111"/>
                    </a:solidFill>
                    <a:latin typeface="Cambria Math"/>
                  </a:rPr>
                  <a:t>g_t + V_tΔt + d_t = L_tΔt + c_t + w_t</a:t>
                </a:r>
                <a:endParaRPr lang="en-US"/>
              </a:p>
            </p:txBody>
          </p:sp>
        </mc:Fallback>
      </mc:AlternateContent>
      <p:sp>
        <p:nvSpPr>
          <p:cNvPr id="34" name="soc-label">
            <a:extLst xmlns:a="http://schemas.openxmlformats.org/drawingml/2006/main">
              <a:ext uri="{FF2B5EF4-FFF2-40B4-BE49-F238E27FC236}">
                <a16:creationId xmlns:a16="http://schemas.microsoft.com/office/drawing/2014/main" id="{D867812F-B92C-4265-9953-AC509C8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90850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eq-soc">
                <a:extLst xmlns:a="http://schemas.openxmlformats.org/drawingml/2006/main">
                  <a:ext uri="{FF2B5EF4-FFF2-40B4-BE49-F238E27FC236}">
                    <a16:creationId xmlns:a16="http://schemas.microsoft.com/office/drawing/2014/main" id="{73A34B44-BDB5-43D0-8179-C26D98B22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190875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t+1</m:t>
                          </m:r>
                        </m:sub>
                      </m:sSub>
                      <m:r>
                        <m:t>=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+</m:t>
                      </m:r>
                      <m:r>
                        <m:t>0.9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−</m:t>
                      </m:r>
                      <m:f>
                        <m:num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m:t>0.9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eq-soc">
                <a:extLst xmlns:a="http://schemas.openxmlformats.org/drawingml/2006/main">
                  <a:ext uri="{FF2B5EF4-FFF2-40B4-BE49-F238E27FC236}">
                    <a16:creationId xmlns:a16="http://schemas.microsoft.com/office/drawing/2014/main" id="{73A34B44-BDB5-43D0-8179-C26D98B22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190875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125">
                    <a:solidFill>
                      <a:srgbClr val="111111"/>
                    </a:solidFill>
                    <a:latin typeface="Cambria Math"/>
                  </a:rPr>
                  <a:t>E_{t+1} = E_t + 0.9c_t − d_t/0.9</a:t>
                </a:r>
                <a:endParaRPr lang="en-US"/>
              </a:p>
            </p:txBody>
          </p:sp>
        </mc:Fallback>
      </mc:AlternateContent>
      <p:sp>
        <p:nvSpPr>
          <p:cNvPr id="36" name="bounds-label">
            <a:extLst xmlns:a="http://schemas.openxmlformats.org/drawingml/2006/main">
              <a:ext uri="{FF2B5EF4-FFF2-40B4-BE49-F238E27FC236}">
                <a16:creationId xmlns:a16="http://schemas.microsoft.com/office/drawing/2014/main" id="{326E2F89-B650-4DF3-BB98-6C7C0B9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0522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容量与功率边界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eq-bounds">
                <a:extLst xmlns:a="http://schemas.openxmlformats.org/drawingml/2006/main">
                  <a:ext uri="{FF2B5EF4-FFF2-40B4-BE49-F238E27FC236}">
                    <a16:creationId xmlns:a16="http://schemas.microsoft.com/office/drawing/2014/main" id="{5E60814E-0B1A-4596-9E3D-A73536AFE1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90525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0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t>1200</m:t>
                      </m:r>
                      <m:r>
                        <m:t>≤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≤10800</m:t>
                      </m:r>
                      <m:r>
                        <m:t>, </m:t>
                      </m:r>
                      <m:r>
                        <m:t>0≤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,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≤</m:t>
                      </m:r>
                      <m:f>
                        <m:num>
                          <m:r>
                            <m:t>5000</m:t>
                          </m:r>
                        </m:num>
                        <m:den>
                          <m: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eq-bounds">
                <a:extLst xmlns:a="http://schemas.openxmlformats.org/drawingml/2006/main">
                  <a:ext uri="{FF2B5EF4-FFF2-40B4-BE49-F238E27FC236}">
                    <a16:creationId xmlns:a16="http://schemas.microsoft.com/office/drawing/2014/main" id="{5E60814E-0B1A-4596-9E3D-A73536AFE1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90525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0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050">
                    <a:solidFill>
                      <a:srgbClr val="111111"/>
                    </a:solidFill>
                    <a:latin typeface="Cambria Math"/>
                  </a:rPr>
                  <a:t>1200 ≤ E_t ≤ 10800，0 ≤ c_t,d_t ≤ 5000/6</a:t>
                </a:r>
                <a:endParaRPr lang="en-US"/>
              </a:p>
            </p:txBody>
          </p:sp>
        </mc:Fallback>
      </mc:AlternateContent>
      <p:sp>
        <p:nvSpPr>
          <p:cNvPr id="38" name="cyclic-label">
            <a:extLst xmlns:a="http://schemas.openxmlformats.org/drawingml/2006/main">
              <a:ext uri="{FF2B5EF4-FFF2-40B4-BE49-F238E27FC236}">
                <a16:creationId xmlns:a16="http://schemas.microsoft.com/office/drawing/2014/main" id="{5FD9D2F7-F3A0-4035-BE3D-DAB2298B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1007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日循环与充放电互斥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eq-cyclic">
                <a:extLst xmlns:a="http://schemas.openxmlformats.org/drawingml/2006/main">
                  <a:ext uri="{FF2B5EF4-FFF2-40B4-BE49-F238E27FC236}">
                    <a16:creationId xmlns:a16="http://schemas.microsoft.com/office/drawing/2014/main" id="{F3514EAA-4A33-4541-A038-84A8DDCCC5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46101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=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144</m:t>
                          </m:r>
                        </m:sub>
                      </m:sSub>
                      <m:r>
                        <m:t>, </m:t>
                      </m:r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∈{0,1}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eq-cyclic">
                <a:extLst xmlns:a="http://schemas.openxmlformats.org/drawingml/2006/main">
                  <a:ext uri="{FF2B5EF4-FFF2-40B4-BE49-F238E27FC236}">
                    <a16:creationId xmlns:a16="http://schemas.microsoft.com/office/drawing/2014/main" id="{F3514EAA-4A33-4541-A038-84A8DDCCC5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46101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200">
                    <a:solidFill>
                      <a:srgbClr val="111111"/>
                    </a:solidFill>
                    <a:latin typeface="Cambria Math"/>
                  </a:rPr>
                  <a:t>E_0 = E_144，z_t ∈ {0,1}</a:t>
                </a:r>
                <a:endParaRPr lang="en-US"/>
              </a:p>
            </p:txBody>
          </p:sp>
        </mc:Fallback>
      </mc:AlternateContent>
      <p:sp>
        <p:nvSpPr>
          <p:cNvPr id="40" name="model-output">
            <a:extLst xmlns:a="http://schemas.openxmlformats.org/drawingml/2006/main">
              <a:ext uri="{FF2B5EF4-FFF2-40B4-BE49-F238E27FC236}">
                <a16:creationId xmlns:a16="http://schemas.microsoft.com/office/drawing/2014/main" id="{DCE0F328-B23A-4444-84EB-A90DD78D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14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日循环确定性 MILP</a:t>
            </a:r>
          </a:p>
        </p:txBody>
      </p:sp>
      <p:cxnSp>
        <p:nvCxnSpPr>
          <p:cNvPr id="109" name=""/>
          <p:cNvCxnSpPr>
            <a:stCxn xmlns:a="http://schemas.openxmlformats.org/drawingml/2006/main" id="23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4162425" y="1781175"/>
            <a:ext cx="790575" cy="3324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110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6734175" y="2028825"/>
            <a:ext cx="476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1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6738938" y="28956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2" name=""/>
          <p:cNvCxnSpPr>
            <a:stCxn xmlns:a="http://schemas.openxmlformats.org/drawingml/2006/main" id="3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6738938" y="3609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37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738938" y="43243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6619875" y="5029200"/>
            <a:ext cx="11906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7" name="milp-solver">
            <a:extLst xmlns:a="http://schemas.openxmlformats.org/drawingml/2006/main">
              <a:ext uri="{FF2B5EF4-FFF2-40B4-BE49-F238E27FC236}">
                <a16:creationId xmlns:a16="http://schemas.microsoft.com/office/drawing/2014/main" id="{58F84BD7-3350-4CE6-83EF-A21D9AF5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38275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SciPy / HiGHS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MILP求解</a:t>
            </a:r>
          </a:p>
        </p:txBody>
      </p:sp>
      <p:sp>
        <p:nvSpPr>
          <p:cNvPr id="48" name="solve-branches">
            <a:extLst xmlns:a="http://schemas.openxmlformats.org/drawingml/2006/main">
              <a:ext uri="{FF2B5EF4-FFF2-40B4-BE49-F238E27FC236}">
                <a16:creationId xmlns:a16="http://schemas.microsoft.com/office/drawing/2014/main" id="{1C13E824-859B-44CD-92D0-A0940CC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76475"/>
            <a:ext cx="1924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49" name="optimal-schedule">
            <a:extLst xmlns:a="http://schemas.openxmlformats.org/drawingml/2006/main">
              <a:ext uri="{FF2B5EF4-FFF2-40B4-BE49-F238E27FC236}">
                <a16:creationId xmlns:a16="http://schemas.microsoft.com/office/drawing/2014/main" id="{699E6C29-658A-4972-B3EE-AE551D55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购电、充放电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弃光、SOC</a:t>
            </a:r>
          </a:p>
        </p:txBody>
      </p:sp>
      <p:sp>
        <p:nvSpPr>
          <p:cNvPr id="50" name="baseline">
            <a:extLst xmlns:a="http://schemas.openxmlformats.org/drawingml/2006/main">
              <a:ext uri="{FF2B5EF4-FFF2-40B4-BE49-F238E27FC236}">
                <a16:creationId xmlns:a16="http://schemas.microsoft.com/office/drawing/2014/main" id="{1D941BAD-33AA-4D5D-B6A0-0C4FE66D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55270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无储能基线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LP松弛下界</a:t>
            </a:r>
          </a:p>
        </p:txBody>
      </p:sp>
      <p:sp>
        <p:nvSpPr>
          <p:cNvPr id="51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34F19EA1-90A2-4D28-97F1-4C4F99E1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86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基线公式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eq-baseline">
                <a:extLst xmlns:a="http://schemas.openxmlformats.org/drawingml/2006/main">
                  <a:ext uri="{FF2B5EF4-FFF2-40B4-BE49-F238E27FC236}">
                    <a16:creationId xmlns:a16="http://schemas.microsoft.com/office/drawing/2014/main" id="{FB402E92-1639-4CB5-A819-29835AC3F2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286875" y="3705225"/>
                <a:ext cx="171450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9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p>
                        <m:e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  <m:sup>
                          <m:r>
                            <m:t>base</m:t>
                          </m:r>
                        </m:sup>
                      </m:sSup>
                      <m:r>
                        <m:t>=</m:t>
                      </m:r>
                      <m:r>
                        <m:t>max</m:t>
                      </m:r>
                      <m:r>
                        <m:t>(</m:t>
                      </m:r>
                      <m:r>
                        <m:t>(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−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)Δt,0)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eq-baseline">
                <a:extLst xmlns:a="http://schemas.openxmlformats.org/drawingml/2006/main">
                  <a:ext uri="{FF2B5EF4-FFF2-40B4-BE49-F238E27FC236}">
                    <a16:creationId xmlns:a16="http://schemas.microsoft.com/office/drawing/2014/main" id="{FB402E92-1639-4CB5-A819-29835AC3F2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286875" y="3705225"/>
                <a:ext cx="171450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9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900">
                    <a:solidFill>
                      <a:srgbClr val="111111"/>
                    </a:solidFill>
                    <a:latin typeface="Cambria Math"/>
                  </a:rPr>
                  <a:t>g_t^base = max((L_t − V_t)Δt, 0)</a:t>
                </a:r>
                <a:endParaRPr lang="en-US"/>
              </a:p>
            </p:txBody>
          </p:sp>
        </mc:Fallback>
      </mc:AlternateContent>
      <p:sp>
        <p:nvSpPr>
          <p:cNvPr id="53" name="comparison-result">
            <a:extLst xmlns:a="http://schemas.openxmlformats.org/drawingml/2006/main">
              <a:ext uri="{FF2B5EF4-FFF2-40B4-BE49-F238E27FC236}">
                <a16:creationId xmlns:a16="http://schemas.microsoft.com/office/drawing/2014/main" id="{30596302-0B85-4F4F-AD98-F089317A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7053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最优方案与基线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费用差值对照</a:t>
            </a:r>
          </a:p>
        </p:txBody>
      </p:sp>
      <p:cxnSp>
        <p:nvCxnSpPr>
          <p:cNvPr id="122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 flipH="1">
            <a:off x="9686925" y="2009775"/>
            <a:ext cx="45720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3" name=""/>
          <p:cNvCxnSpPr>
            <a:stCxn xmlns:a="http://schemas.openxmlformats.org/drawingml/2006/main" id="47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0144125" y="2009775"/>
            <a:ext cx="45720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4" name=""/>
          <p:cNvCxnSpPr>
            <a:stCxn xmlns:a="http://schemas.openxmlformats.org/drawingml/2006/main" id="50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 flipH="1">
            <a:off x="10144125" y="3333750"/>
            <a:ext cx="45720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49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9686925" y="3333750"/>
            <a:ext cx="457200" cy="1371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6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10144125" y="416242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7" name=""/>
          <p:cNvCxnSpPr>
            <a:stCxn xmlns:a="http://schemas.openxmlformats.org/drawingml/2006/main" id="40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8048625" y="1724025"/>
            <a:ext cx="1171575" cy="3790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0" name="physical-checks">
            <a:extLst xmlns:a="http://schemas.openxmlformats.org/drawingml/2006/main">
              <a:ext uri="{FF2B5EF4-FFF2-40B4-BE49-F238E27FC236}">
                <a16:creationId xmlns:a16="http://schemas.microsoft.com/office/drawing/2014/main" id="{0DA31DC8-D5B9-4719-AFA5-ACE18E16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438275"/>
            <a:ext cx="914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逐时核验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守恒、SOC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功率上限</a:t>
            </a:r>
          </a:p>
        </p:txBody>
      </p:sp>
      <p:sp>
        <p:nvSpPr>
          <p:cNvPr id="61" name="exclusivity-checks">
            <a:extLst xmlns:a="http://schemas.openxmlformats.org/drawingml/2006/main">
              <a:ext uri="{FF2B5EF4-FFF2-40B4-BE49-F238E27FC236}">
                <a16:creationId xmlns:a16="http://schemas.microsoft.com/office/drawing/2014/main" id="{58F85B35-6CF9-4CF8-8972-2E5963D5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438275"/>
            <a:ext cx="914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互斥约束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弃光上限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非负性</a:t>
            </a:r>
          </a:p>
        </p:txBody>
      </p:sp>
      <p:sp>
        <p:nvSpPr>
          <p:cNvPr id="62" name="fee-recompute">
            <a:extLst xmlns:a="http://schemas.openxmlformats.org/drawingml/2006/main">
              <a:ext uri="{FF2B5EF4-FFF2-40B4-BE49-F238E27FC236}">
                <a16:creationId xmlns:a16="http://schemas.microsoft.com/office/drawing/2014/main" id="{DB3DBBA7-2149-4E49-A1B0-F359F69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146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独立复算购电费用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并回读144行结果</a:t>
            </a:r>
          </a:p>
        </p:txBody>
      </p:sp>
      <p:sp>
        <p:nvSpPr>
          <p:cNvPr id="63" name="result-export">
            <a:extLst xmlns:a="http://schemas.openxmlformats.org/drawingml/2006/main">
              <a:ext uri="{FF2B5EF4-FFF2-40B4-BE49-F238E27FC236}">
                <a16:creationId xmlns:a16="http://schemas.microsoft.com/office/drawing/2014/main" id="{37B62EB0-D4E2-4170-8A12-ADEA5F8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00500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完整调度明细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</p:txBody>
      </p:sp>
      <p:cxnSp>
        <p:nvCxnSpPr>
          <p:cNvPr id="132" name=""/>
          <p:cNvCxnSpPr>
            <a:stCxn xmlns:a="http://schemas.openxmlformats.org/drawingml/2006/main" id="60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2058650" y="2219325"/>
            <a:ext cx="50482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33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H="1">
            <a:off x="12563475" y="2219325"/>
            <a:ext cx="50482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34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2563475" y="3305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35" name=""/>
          <p:cNvCxnSpPr>
            <a:stCxn xmlns:a="http://schemas.openxmlformats.org/drawingml/2006/main" id="53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V="1">
            <a:off x="11001375" y="1828800"/>
            <a:ext cx="600075" cy="3133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A3F4A2FF-9882-4EA4-A5B0-54F990B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6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333333"/>
                </a:solidFill>
                <a:latin typeface="SimSun"/>
                <a:ea typeface="SimSun"/>
                <a:cs typeface="SimSun"/>
              </a:rPr>
              <a:t>已知预测条件下的日循环储能优化；初末库存闭环；不设紧急购电与售电；结果经物理约束与费用复算</a:t>
            </a:r>
          </a:p>
        </p:txBody>
      </p:sp>
    </p:spTree>
    <p:extLst>
      <p:ext uri="{BB962C8B-B14F-4D97-AF65-F5344CB8AC3E}">
        <p14:creationId xmlns:p14="http://schemas.microsoft.com/office/powerpoint/2010/main" val="1537784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2026-09-12T12:27:57.2520000Z</dcterms:created>
  <dcterms:modified xsi:type="dcterms:W3CDTF">2026-09-12T12:27:57.2520000Z</dcterms:modified>
</coreProperties>
</file>