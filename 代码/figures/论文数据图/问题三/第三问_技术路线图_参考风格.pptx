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1152b967640b3" /><Relationship Type="http://schemas.openxmlformats.org/officeDocument/2006/relationships/extended-properties" Target="/docProps/app.xml" Id="Rc9a0a77c30894633" /><Relationship Type="http://schemas.openxmlformats.org/officeDocument/2006/relationships/officeDocument" Target="/ppt/presentation.xml" Id="Raf8a4b53e4b5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73f9f8ff64596"/>
  </p:sldMasterIdLst>
  <p:notesMasterIdLst>
    <p:notesMasterId xmlns:r="http://schemas.openxmlformats.org/officeDocument/2006/relationships" r:id="R36fd46dcc93546ce"/>
  </p:notesMasterIdLst>
  <p:sldIdLst>
    <p:sldId xmlns:r="http://schemas.openxmlformats.org/officeDocument/2006/relationships" id="256" r:id="R45687b0c9e924716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637434bf848b0" /><Relationship Type="http://schemas.openxmlformats.org/officeDocument/2006/relationships/slideMaster" Target="/ppt/slideMasters/slideMaster1.xml" Id="Rb5873f9f8ff64596" /><Relationship Type="http://schemas.openxmlformats.org/officeDocument/2006/relationships/notesMaster" Target="/ppt/notesMasters/notesMaster1.xml" Id="R36fd46dcc93546ce" /><Relationship Type="http://schemas.openxmlformats.org/officeDocument/2006/relationships/presProps" Target="/ppt/presProps.xml" Id="R512234635dc4425a" /><Relationship Type="http://schemas.openxmlformats.org/officeDocument/2006/relationships/tableStyles" Target="/ppt/tableStyles.xml" Id="R2bace3d3975746b6" /><Relationship Type="http://schemas.openxmlformats.org/officeDocument/2006/relationships/slide" Target="/ppt/slides/slide1.xml" Id="R45687b0c9e92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6c58cde50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ff46e013f4db1" /><Relationship Type="http://schemas.openxmlformats.org/officeDocument/2006/relationships/notesMaster" Target="/ppt/notesMasters/notesMaster1.xml" Id="R64dbc9ca02c8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问技术路线图。视觉样式直接沿用第一问、第二问参考风格图的构建器，画布比例、SimSun字体、蓝色与灰色虚线分区、框线宽度、箭头和圆角输入输出框保持一致。来源：建模思路/题目分析报告.md第三问；论文写作/问题三/第三问_路线A结果审核报告.md；代码/q3_solution.py及代码/results/q3/result3.xlsx。路线A复用第二问LightGBM负荷预测，读取附件3在0:00、6:00、12:00、18:00发布的PV预报并线性插值到10分钟；按发布时间和六小时块从历史实际净负荷误差构造条件分位预测，分位点为0.20、0.50、0.65、0.80、0.90并排序消除交叉。0:00用q=0.80净需求求解初始日前计划；每次新预报到达时冻结已执行时段，从当前实际SOC和有效计划出发，比较多个分位候选与不调整候选，按调整费用加未来紧急购电期望成本滚动选择。执行阶段每10分钟根据当前净负荷、价格和SOC反馈，富余则充电、剩余弃光，缺口则按价值函数择优放电、剩余紧急购电。结算采用增购1.5p、退款p并附带0.5p退款成本的项目假设，库存跨日连续传递。图中只呈现方法链，不重跑求解；有限历史样本、60kWh SOC网格、退款解释及候选冻结策略属于结果审核报告列明的建模假设。输出result3.xlsx含购电计划、调整账本、储能轨迹和紧急购电记录。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532c2e630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8607028074409" /><Relationship Type="http://schemas.openxmlformats.org/officeDocument/2006/relationships/slideLayout" Target="/ppt/slideLayouts/slideLayout1.xml" Id="R864efd843e6540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efd843e6540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ea7a29858438a" /><Relationship Type="http://schemas.openxmlformats.org/officeDocument/2006/relationships/notesSlide" Target="/ppt/notesSlides/notesSlide1.xml" Id="Ree4eafe638d24c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EAB3F8D4-7544-4F61-AEAF-923BB3B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6A24DA49-D93F-4BF0-B4E1-BF1DEB6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6B03F406-3C98-4D08-B2C6-760C3388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DAED8515-9B33-474E-9F47-A170616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C06646F1-59D3-4BA7-AA02-C83715D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77EA35BA-28FC-4514-A2FF-028E55A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多时刻预报与净负荷预测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541EF9F6-1B0B-4B2C-A8EB-BD84460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日前计划与调整候选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4BC9C928-F222-40E9-8866-3F50AA52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滚动反馈执行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4FDBDEDE-30BA-4A61-8E4E-51DB7F12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结算、衔接与核验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217780CB-F908-40F7-B254-849EEA6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附件1–3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原始数据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C0B1C178-8597-46EB-80C4-06CA6041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历史误差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与发布时间</a:t>
            </a:r>
          </a:p>
        </p:txBody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forecast-source">
            <a:extLst xmlns:a="http://schemas.openxmlformats.org/drawingml/2006/main">
              <a:ext uri="{FF2B5EF4-FFF2-40B4-BE49-F238E27FC236}">
                <a16:creationId xmlns:a16="http://schemas.microsoft.com/office/drawing/2014/main" id="{A087AE82-0F93-47C4-801B-5425FC8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95425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负荷预测 + 四次PV预报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 / 6:00 / 12:00 / 18:00</a:t>
            </a:r>
          </a:p>
        </p:txBody>
      </p:sp>
      <p:sp>
        <p:nvSpPr>
          <p:cNvPr id="14" name="forecast-steps">
            <a:extLst xmlns:a="http://schemas.openxmlformats.org/drawingml/2006/main">
              <a:ext uri="{FF2B5EF4-FFF2-40B4-BE49-F238E27FC236}">
                <a16:creationId xmlns:a16="http://schemas.microsoft.com/office/drawing/2014/main" id="{05C6FFAF-C965-4839-96B8-33C5A36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050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publish-times">
            <a:extLst xmlns:a="http://schemas.openxmlformats.org/drawingml/2006/main">
              <a:ext uri="{FF2B5EF4-FFF2-40B4-BE49-F238E27FC236}">
                <a16:creationId xmlns:a16="http://schemas.microsoft.com/office/drawing/2014/main" id="{6D37E399-357B-4A16-8D12-35355F5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479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时点发布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 / 6 / 12 / 18时</a:t>
            </a:r>
          </a:p>
        </p:txBody>
      </p:sp>
      <p:sp>
        <p:nvSpPr>
          <p:cNvPr id="16" name="interpolate">
            <a:extLst xmlns:a="http://schemas.openxmlformats.org/drawingml/2006/main">
              <a:ext uri="{FF2B5EF4-FFF2-40B4-BE49-F238E27FC236}">
                <a16:creationId xmlns:a16="http://schemas.microsoft.com/office/drawing/2014/main" id="{19ACFECF-5661-4AC5-BDE8-E644C5C5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479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10 min曲线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线性插值</a:t>
            </a:r>
          </a:p>
        </p:txBody>
      </p:sp>
      <p:sp>
        <p:nvSpPr>
          <p:cNvPr id="17" name="conditional-netload">
            <a:extLst xmlns:a="http://schemas.openxmlformats.org/drawingml/2006/main">
              <a:ext uri="{FF2B5EF4-FFF2-40B4-BE49-F238E27FC236}">
                <a16:creationId xmlns:a16="http://schemas.microsoft.com/office/drawing/2014/main" id="{F5E38AD8-5BCA-4B22-97EC-FE0F615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3048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条件净负荷分位预测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负荷预测 − PV预报 + 历史净误差校准</a:t>
            </a:r>
          </a:p>
        </p:txBody>
      </p:sp>
      <p:sp>
        <p:nvSpPr>
          <p:cNvPr id="18" name="quantile-versions">
            <a:extLst xmlns:a="http://schemas.openxmlformats.org/drawingml/2006/main">
              <a:ext uri="{FF2B5EF4-FFF2-40B4-BE49-F238E27FC236}">
                <a16:creationId xmlns:a16="http://schemas.microsoft.com/office/drawing/2014/main" id="{86D6807A-B506-42DB-9065-FF50BC5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四个预报版本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q=0.20/0.50/0.65/0.80/0.90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57375"/>
            <a:ext cx="704850" cy="1662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219325"/>
            <a:ext cx="7572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219325"/>
            <a:ext cx="766763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381375"/>
            <a:ext cx="757238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381375"/>
            <a:ext cx="76676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714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3512824E-20CC-40A7-9AD1-BF64E1BC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43050"/>
            <a:ext cx="16954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 日前初始计划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q=0.80净需求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实际日初SOC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线性规划求解</a:t>
            </a:r>
          </a:p>
        </p:txBody>
      </p:sp>
      <p:sp>
        <p:nvSpPr>
          <p:cNvPr id="26" name="adjustment-candidates">
            <a:extLst xmlns:a="http://schemas.openxmlformats.org/drawingml/2006/main">
              <a:ext uri="{FF2B5EF4-FFF2-40B4-BE49-F238E27FC236}">
                <a16:creationId xmlns:a16="http://schemas.microsoft.com/office/drawing/2014/main" id="{0026A3E1-8FD3-4B83-81CE-29CD70E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543050"/>
            <a:ext cx="1657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6/12/18时滚动调整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q=0.50/0.65/0.80/0.90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保留不调整候选</a:t>
            </a:r>
          </a:p>
        </p:txBody>
      </p:sp>
      <p:sp>
        <p:nvSpPr>
          <p:cNvPr id="27" name="candidate-evaluation">
            <a:extLst xmlns:a="http://schemas.openxmlformats.org/drawingml/2006/main">
              <a:ext uri="{FF2B5EF4-FFF2-40B4-BE49-F238E27FC236}">
                <a16:creationId xmlns:a16="http://schemas.microsoft.com/office/drawing/2014/main" id="{EBDD2169-65EE-44F3-8DB1-99ECE8F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35147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候选评价与有效计划选择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调整费用 + 预期紧急购电费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冻结已执行时段；当前计划滚动更新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每次调整按交付时段逐笔结算</a:t>
            </a:r>
          </a:p>
        </p:txBody>
      </p:sp>
      <p:cxnSp>
        <p:nvCxnSpPr>
          <p:cNvPr id="71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67500" y="3228975"/>
            <a:ext cx="919163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28975"/>
            <a:ext cx="928688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current-observation">
            <a:extLst xmlns:a="http://schemas.openxmlformats.org/drawingml/2006/main">
              <a:ext uri="{FF2B5EF4-FFF2-40B4-BE49-F238E27FC236}">
                <a16:creationId xmlns:a16="http://schemas.microsoft.com/office/drawing/2014/main" id="{DDE2FFFE-112B-4791-879B-40EF417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当前观测：净负荷、价格与储电量</a:t>
            </a:r>
          </a:p>
        </p:txBody>
      </p:sp>
      <p:sp>
        <p:nvSpPr>
          <p:cNvPr id="32" name="surplus-control">
            <a:extLst xmlns:a="http://schemas.openxmlformats.org/drawingml/2006/main">
              <a:ext uri="{FF2B5EF4-FFF2-40B4-BE49-F238E27FC236}">
                <a16:creationId xmlns:a16="http://schemas.microsoft.com/office/drawing/2014/main" id="{EA2CA819-8C11-4784-B102-E386177C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6097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富余时段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充电；余量弃光</a:t>
            </a:r>
          </a:p>
        </p:txBody>
      </p:sp>
      <p:sp>
        <p:nvSpPr>
          <p:cNvPr id="33" name="deficit-control">
            <a:extLst xmlns:a="http://schemas.openxmlformats.org/drawingml/2006/main">
              <a:ext uri="{FF2B5EF4-FFF2-40B4-BE49-F238E27FC236}">
                <a16:creationId xmlns:a16="http://schemas.microsoft.com/office/drawing/2014/main" id="{3645A99B-44BE-46FC-9190-193BB0C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09850"/>
            <a:ext cx="1581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缺口时段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择优放电；不足紧急购电</a:t>
            </a:r>
          </a:p>
        </p:txBody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settlement-ledger">
            <a:extLst xmlns:a="http://schemas.openxmlformats.org/drawingml/2006/main">
              <a:ext uri="{FF2B5EF4-FFF2-40B4-BE49-F238E27FC236}">
                <a16:creationId xmlns:a16="http://schemas.microsoft.com/office/drawing/2014/main" id="{D95E63B4-ED18-470C-8A83-CC5F9A1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5825"/>
            <a:ext cx="1609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逐笔调整结算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增购 1.5p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退款 p；附带 0.5p</a:t>
            </a:r>
          </a:p>
        </p:txBody>
      </p:sp>
      <p:sp>
        <p:nvSpPr>
          <p:cNvPr id="38" name="cross-day-constraints">
            <a:extLst xmlns:a="http://schemas.openxmlformats.org/drawingml/2006/main">
              <a:ext uri="{FF2B5EF4-FFF2-40B4-BE49-F238E27FC236}">
                <a16:creationId xmlns:a16="http://schemas.microsoft.com/office/drawing/2014/main" id="{4306B5A2-7777-4585-AB8D-364EB4CC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695825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跨日库存与约束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SOC连续传递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功率/能量平衡</a:t>
            </a:r>
          </a:p>
        </p:txBody>
      </p: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1816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9F6F6419-B0D6-48C0-9A8D-86EFFDB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滚动调度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方案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结算</a:t>
            </a:r>
          </a:p>
        </p:txBody>
      </p:sp>
      <p:cxnSp>
        <p:nvCxnSpPr>
          <p:cNvPr id="85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09625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CD8011E-DC7B-4B0D-A4A0-74F18E4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四次预报滚动到达；已执行时段冻结；每10 min反馈执行；跨日SOC连续传递，输出 result3.xlsx</a:t>
            </a:r>
          </a:p>
        </p:txBody>
      </p:sp>
    </p:spTree>
    <p:extLst>
      <p:ext uri="{BB962C8B-B14F-4D97-AF65-F5344CB8AC3E}">
        <p14:creationId xmlns:p14="http://schemas.microsoft.com/office/powerpoint/2010/main" val="1719223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2026-09-12T09:52:30.5220000Z</dcterms:created>
  <dcterms:modified xsi:type="dcterms:W3CDTF">2026-09-12T09:52:30.5220000Z</dcterms:modified>
</coreProperties>
</file>